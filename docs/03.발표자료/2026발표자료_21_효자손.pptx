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mp3" ContentType="audio/m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75939"/>
  </p:normalViewPr>
  <p:slideViewPr>
    <p:cSldViewPr snapToGrid="0">
      <p:cViewPr varScale="1">
        <p:scale>
          <a:sx n="72" d="100"/>
          <a:sy n="72" d="100"/>
        </p:scale>
        <p:origin x="100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jpeg"/><Relationship Id="rIdAud" Type="http://schemas.openxmlformats.org/officeDocument/2006/relationships/audio" Target="../media/audio7.mp3"/><Relationship Id="rIdAMed" Type="http://schemas.microsoft.com/office/2007/relationships/media" Target="../media/audio7.mp3"/><Relationship Id="rIdAImg" Type="http://schemas.openxmlformats.org/officeDocument/2006/relationships/image" Target="../media/speaker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jpeg"/><Relationship Id="rIdAud" Type="http://schemas.openxmlformats.org/officeDocument/2006/relationships/audio" Target="../media/audio8.mp3"/><Relationship Id="rIdAMed" Type="http://schemas.microsoft.com/office/2007/relationships/media" Target="../media/audio8.mp3"/><Relationship Id="rIdAImg" Type="http://schemas.openxmlformats.org/officeDocument/2006/relationships/image" Target="../media/speaker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5.jpeg"/><Relationship Id="rIdAud" Type="http://schemas.openxmlformats.org/officeDocument/2006/relationships/audio" Target="../media/audio9.mp3"/><Relationship Id="rIdAMed" Type="http://schemas.microsoft.com/office/2007/relationships/media" Target="../media/audio9.mp3"/><Relationship Id="rIdAImg" Type="http://schemas.openxmlformats.org/officeDocument/2006/relationships/image" Target="../media/speaker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6.jpeg"/><Relationship Id="rIdAud" Type="http://schemas.openxmlformats.org/officeDocument/2006/relationships/audio" Target="../media/audio10.mp3"/><Relationship Id="rIdAMed" Type="http://schemas.microsoft.com/office/2007/relationships/media" Target="../media/audio10.mp3"/><Relationship Id="rIdAImg" Type="http://schemas.openxmlformats.org/officeDocument/2006/relationships/image" Target="../media/speaker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7.jpeg"/><Relationship Id="rIdAud" Type="http://schemas.openxmlformats.org/officeDocument/2006/relationships/audio" Target="../media/audio11.mp3"/><Relationship Id="rIdAMed" Type="http://schemas.microsoft.com/office/2007/relationships/media" Target="../media/audio11.mp3"/><Relationship Id="rIdAImg" Type="http://schemas.openxmlformats.org/officeDocument/2006/relationships/image" Target="../media/speaker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8.jpeg"/><Relationship Id="rIdAud" Type="http://schemas.openxmlformats.org/officeDocument/2006/relationships/audio" Target="../media/audio12.mp3"/><Relationship Id="rIdAMed" Type="http://schemas.microsoft.com/office/2007/relationships/media" Target="../media/audio12.mp3"/><Relationship Id="rIdAImg" Type="http://schemas.openxmlformats.org/officeDocument/2006/relationships/image" Target="../media/speaker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9.jpeg"/><Relationship Id="rIdAud" Type="http://schemas.openxmlformats.org/officeDocument/2006/relationships/audio" Target="../media/audio13.mp3"/><Relationship Id="rIdAMed" Type="http://schemas.microsoft.com/office/2007/relationships/media" Target="../media/audio13.mp3"/><Relationship Id="rIdAImg" Type="http://schemas.openxmlformats.org/officeDocument/2006/relationships/image" Target="../media/speaker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10.jpeg"/><Relationship Id="rIdAud" Type="http://schemas.openxmlformats.org/officeDocument/2006/relationships/audio" Target="../media/audio14.mp3"/><Relationship Id="rIdAMed" Type="http://schemas.microsoft.com/office/2007/relationships/media" Target="../media/audio14.mp3"/><Relationship Id="rIdAImg" Type="http://schemas.openxmlformats.org/officeDocument/2006/relationships/image" Target="../media/speaker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5" Type="http://schemas.openxmlformats.org/officeDocument/2006/relationships/image" Target="../media/image11.jpeg"/><Relationship Id="rIdAud" Type="http://schemas.openxmlformats.org/officeDocument/2006/relationships/audio" Target="../media/audio15.mp3"/><Relationship Id="rIdAMed" Type="http://schemas.microsoft.com/office/2007/relationships/media" Target="../media/audio15.mp3"/><Relationship Id="rIdAImg" Type="http://schemas.openxmlformats.org/officeDocument/2006/relationships/image" Target="../media/speaker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1.mp4"/><Relationship Id="rId1" Type="http://schemas.microsoft.com/office/2007/relationships/media" Target="../media/media11.mp4"/><Relationship Id="rId5" Type="http://schemas.openxmlformats.org/officeDocument/2006/relationships/image" Target="../media/image13.jpeg"/><Relationship Id="rIdAud" Type="http://schemas.openxmlformats.org/officeDocument/2006/relationships/audio" Target="../media/audio17.mp3"/><Relationship Id="rIdAMed" Type="http://schemas.microsoft.com/office/2007/relationships/media" Target="../media/audio17.mp3"/><Relationship Id="rIdAImg" Type="http://schemas.openxmlformats.org/officeDocument/2006/relationships/image" Target="../media/speaker.pn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2.mp4"/><Relationship Id="rId1" Type="http://schemas.microsoft.com/office/2007/relationships/media" Target="../media/media12.mp4"/><Relationship Id="rId5" Type="http://schemas.openxmlformats.org/officeDocument/2006/relationships/image" Target="../media/image14.jpeg"/><Relationship Id="rIdAud" Type="http://schemas.openxmlformats.org/officeDocument/2006/relationships/audio" Target="../media/audio18.mp3"/><Relationship Id="rIdAMed" Type="http://schemas.microsoft.com/office/2007/relationships/media" Target="../media/audio18.mp3"/><Relationship Id="rIdAImg" Type="http://schemas.openxmlformats.org/officeDocument/2006/relationships/image" Target="../media/speaker.pn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3.mp4"/><Relationship Id="rId1" Type="http://schemas.microsoft.com/office/2007/relationships/media" Target="../media/media13.mp4"/><Relationship Id="rId5" Type="http://schemas.openxmlformats.org/officeDocument/2006/relationships/image" Target="../media/image15.jpeg"/><Relationship Id="rIdAud" Type="http://schemas.openxmlformats.org/officeDocument/2006/relationships/audio" Target="../media/audio19.mp3"/><Relationship Id="rIdAMed" Type="http://schemas.microsoft.com/office/2007/relationships/media" Target="../media/audio19.mp3"/><Relationship Id="rIdAImg" Type="http://schemas.openxmlformats.org/officeDocument/2006/relationships/image" Target="../media/speaker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4.mp4"/><Relationship Id="rId1" Type="http://schemas.microsoft.com/office/2007/relationships/media" Target="../media/media14.mp4"/><Relationship Id="rId5" Type="http://schemas.openxmlformats.org/officeDocument/2006/relationships/image" Target="../media/image16.jpeg"/><Relationship Id="rIdAud" Type="http://schemas.openxmlformats.org/officeDocument/2006/relationships/audio" Target="../media/audio20.mp3"/><Relationship Id="rIdAMed" Type="http://schemas.microsoft.com/office/2007/relationships/media" Target="../media/audio20.mp3"/><Relationship Id="rIdAImg" Type="http://schemas.openxmlformats.org/officeDocument/2006/relationships/image" Target="../media/speaker.png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5.mp4"/><Relationship Id="rId1" Type="http://schemas.microsoft.com/office/2007/relationships/media" Target="../media/media15.mp4"/><Relationship Id="rId5" Type="http://schemas.openxmlformats.org/officeDocument/2006/relationships/image" Target="../media/image17.jpeg"/><Relationship Id="rIdAud" Type="http://schemas.openxmlformats.org/officeDocument/2006/relationships/audio" Target="../media/audio21.mp3"/><Relationship Id="rIdAMed" Type="http://schemas.microsoft.com/office/2007/relationships/media" Target="../media/audio21.mp3"/><Relationship Id="rIdAImg" Type="http://schemas.openxmlformats.org/officeDocument/2006/relationships/image" Target="../media/speaker.png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6.mp4"/><Relationship Id="rId1" Type="http://schemas.microsoft.com/office/2007/relationships/media" Target="../media/media16.mp4"/><Relationship Id="rId5" Type="http://schemas.openxmlformats.org/officeDocument/2006/relationships/image" Target="../media/image18.jpeg"/><Relationship Id="rIdAud" Type="http://schemas.openxmlformats.org/officeDocument/2006/relationships/audio" Target="../media/audio22.mp3"/><Relationship Id="rIdAMed" Type="http://schemas.microsoft.com/office/2007/relationships/media" Target="../media/audio22.mp3"/><Relationship Id="rIdAImg" Type="http://schemas.openxmlformats.org/officeDocument/2006/relationships/image" Target="../media/speaker.png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7.mp4"/><Relationship Id="rId1" Type="http://schemas.microsoft.com/office/2007/relationships/media" Target="../media/media17.mp4"/><Relationship Id="rId5" Type="http://schemas.openxmlformats.org/officeDocument/2006/relationships/image" Target="../media/image19.jpeg"/><Relationship Id="rIdAud" Type="http://schemas.openxmlformats.org/officeDocument/2006/relationships/audio" Target="../media/audio23.mp3"/><Relationship Id="rIdAMed" Type="http://schemas.microsoft.com/office/2007/relationships/media" Target="../media/audio23.mp3"/><Relationship Id="rIdAImg" Type="http://schemas.openxmlformats.org/officeDocument/2006/relationships/image" Target="../media/speaker.png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8.mp4"/><Relationship Id="rId1" Type="http://schemas.microsoft.com/office/2007/relationships/media" Target="../media/media18.mp4"/><Relationship Id="rId5" Type="http://schemas.openxmlformats.org/officeDocument/2006/relationships/image" Target="../media/image20.jpeg"/><Relationship Id="rIdAud" Type="http://schemas.openxmlformats.org/officeDocument/2006/relationships/audio" Target="../media/audio24.mp3"/><Relationship Id="rIdAMed" Type="http://schemas.microsoft.com/office/2007/relationships/media" Target="../media/audio24.mp3"/><Relationship Id="rIdAImg" Type="http://schemas.openxmlformats.org/officeDocument/2006/relationships/image" Target="../media/speaker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3004CB-2EBA-4EBC-A919-56F1E1175AC6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늘봄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69A871-FF97-4B85-AE4E-CDD9DE8672F7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6667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8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음성·언어·인지</a:t>
            </a:r>
            <a:r>
              <a:rPr sz="28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수행</a:t>
            </a:r>
            <a:r>
              <a:rPr sz="28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정보를</a:t>
            </a:r>
            <a:r>
              <a:rPr sz="28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융합한</a:t>
            </a:r>
            <a:endParaRPr sz="2850" b="1" dirty="0">
              <a:solidFill>
                <a:srgbClr val="1E2822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28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AI </a:t>
            </a: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28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인지</a:t>
            </a:r>
            <a:r>
              <a:rPr sz="28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저하</a:t>
            </a:r>
            <a:r>
              <a:rPr sz="28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위험</a:t>
            </a:r>
            <a:r>
              <a:rPr sz="28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신호</a:t>
            </a:r>
            <a:endParaRPr sz="2850" b="1" dirty="0">
              <a:solidFill>
                <a:srgbClr val="1E2822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28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조기</a:t>
            </a:r>
            <a:r>
              <a:rPr sz="28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스크리닝</a:t>
            </a:r>
            <a:r>
              <a:rPr sz="28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서비스</a:t>
            </a:r>
            <a:endParaRPr sz="2850" b="1" dirty="0">
              <a:solidFill>
                <a:srgbClr val="1E28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2D3B53-EAE6-4BF7-B9D8-46535EFCAB4F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2619375" cy="4762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8BBC81-3975-4920-911B-F44A393F5EA6}"/>
              </a:ext>
            </a:extLst>
          </p:cNvPr>
          <p:cNvSpPr>
            <a:spLocks noGrp="1"/>
          </p:cNvSpPr>
          <p:nvPr/>
        </p:nvSpPr>
        <p:spPr>
          <a:xfrm>
            <a:off x="762000" y="364807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일상 속 목소리와 반복 기록으로 변화를 살펴봅니다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7D44CD8-3C4B-48B1-B143-E0E56D2B9284}"/>
              </a:ext>
            </a:extLst>
          </p:cNvPr>
          <p:cNvSpPr>
            <a:spLocks noGrp="1"/>
          </p:cNvSpPr>
          <p:nvPr/>
        </p:nvSpPr>
        <p:spPr>
          <a:xfrm>
            <a:off x="762000" y="58674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l">
              <a:defRPr sz="9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부산대학교</a:t>
            </a:r>
            <a:r>
              <a:rPr sz="975" b="0" dirty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정보컴퓨터공학</a:t>
            </a:r>
            <a:r>
              <a:rPr lang="ko-KR" altLang="en-US" sz="975" b="0" dirty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부</a:t>
            </a:r>
            <a:r>
              <a:rPr sz="975" b="0" dirty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en-US" altLang="ko-KR" sz="975" b="0" dirty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2026</a:t>
            </a:r>
            <a:r>
              <a:rPr lang="ko-KR" altLang="en-US" sz="975" b="0" dirty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학년도</a:t>
            </a:r>
            <a:r>
              <a:rPr lang="ko-KR" altLang="en-US" sz="975" dirty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 전기 </a:t>
            </a:r>
            <a:r>
              <a:rPr sz="975" b="0" dirty="0" err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졸업과제</a:t>
            </a:r>
            <a:endParaRPr sz="975" b="0" dirty="0">
              <a:solidFill>
                <a:srgbClr val="6B766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4A0C1F-C5FF-4060-886B-9BE2C07BC4FD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B2176A7-D278-503D-7390-FA54F69C3972}"/>
              </a:ext>
            </a:extLst>
          </p:cNvPr>
          <p:cNvSpPr>
            <a:spLocks noGrp="1"/>
          </p:cNvSpPr>
          <p:nvPr/>
        </p:nvSpPr>
        <p:spPr>
          <a:xfrm>
            <a:off x="7524750" y="0"/>
            <a:ext cx="4667250" cy="4667250"/>
          </a:xfrm>
          <a:prstGeom prst="ellipse">
            <a:avLst/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77230FE-E69C-52D6-6FF7-0AED9E4A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916" y="2799934"/>
            <a:ext cx="3272459" cy="327245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204391DA-1CD2-027D-10E8-C240346A7DF2}"/>
              </a:ext>
            </a:extLst>
          </p:cNvPr>
          <p:cNvSpPr>
            <a:spLocks noGrp="1"/>
          </p:cNvSpPr>
          <p:nvPr/>
        </p:nvSpPr>
        <p:spPr>
          <a:xfrm>
            <a:off x="762000" y="6096000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19"/>
          </a:bodyPr>
          <a:lstStyle/>
          <a:p>
            <a:pPr algn="l">
              <a:defRPr sz="1050" b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팀원</a:t>
            </a:r>
            <a:r>
              <a:rPr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ko-KR" altLang="en-US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원준서</a:t>
            </a:r>
            <a:r>
              <a:rPr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  ·  </a:t>
            </a:r>
            <a:r>
              <a:rPr lang="ko-KR" altLang="en-US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김민서</a:t>
            </a:r>
            <a:r>
              <a:rPr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  ·  </a:t>
            </a:r>
            <a:r>
              <a:rPr lang="ko-KR" altLang="en-US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이지현</a:t>
            </a:r>
            <a:endParaRPr sz="900" b="0" dirty="0">
              <a:solidFill>
                <a:schemeClr val="tx1">
                  <a:lumMod val="65000"/>
                  <a:lumOff val="35000"/>
                </a:schemeClr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122610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4D14227-6854-460B-BDBA-6507E6B0D70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32E005-C554-4C61-9AEA-A2074B936DC7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PROBLEM VIDEO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548130-D060-4F82-B3C3-EF6DC8068473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BBDB5C-1222-47CA-9CF8-D1E98EBA7DF4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220558-E650-4FFC-9693-15BEBC0372B9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일상</a:t>
            </a:r>
            <a:r>
              <a:rPr sz="25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속</a:t>
            </a:r>
            <a:r>
              <a:rPr sz="25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작은</a:t>
            </a:r>
            <a:r>
              <a:rPr sz="25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변화</a:t>
            </a:r>
            <a:endParaRPr sz="2550" b="1" dirty="0">
              <a:solidFill>
                <a:srgbClr val="1E28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F244105-58D7-4038-8BFF-C45280BFA23D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439400" cy="4000500"/>
          </a:xfrm>
          <a:prstGeom prst="roundRect">
            <a:avLst>
              <a:gd name="adj" fmla="val 3333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18CE91F-7426-4043-8706-7084B622E561}"/>
              </a:ext>
            </a:extLst>
          </p:cNvPr>
          <p:cNvSpPr>
            <a:spLocks noGrp="1"/>
          </p:cNvSpPr>
          <p:nvPr/>
        </p:nvSpPr>
        <p:spPr>
          <a:xfrm>
            <a:off x="1000125" y="2076450"/>
            <a:ext cx="10191750" cy="3752850"/>
          </a:xfrm>
          <a:prstGeom prst="roundRect">
            <a:avLst>
              <a:gd name="adj" fmla="val 3553"/>
            </a:avLst>
          </a:prstGeom>
          <a:solidFill>
            <a:srgbClr val="F4F8F4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556934-83CB-477A-B090-B919D5DAC84A}"/>
              </a:ext>
            </a:extLst>
          </p:cNvPr>
          <p:cNvSpPr>
            <a:spLocks noGrp="1"/>
          </p:cNvSpPr>
          <p:nvPr/>
        </p:nvSpPr>
        <p:spPr>
          <a:xfrm>
            <a:off x="3524250" y="333375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20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dirty="0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[AI </a:t>
            </a:r>
            <a:r>
              <a:rPr sz="2025" b="1" dirty="0" err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영상</a:t>
            </a:r>
            <a:r>
              <a:rPr sz="2025" b="1" dirty="0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]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A4B2D3-3A7F-4944-8312-AAE33B0CE40E}"/>
              </a:ext>
            </a:extLst>
          </p:cNvPr>
          <p:cNvSpPr>
            <a:spLocks noGrp="1"/>
          </p:cNvSpPr>
          <p:nvPr/>
        </p:nvSpPr>
        <p:spPr>
          <a:xfrm>
            <a:off x="5267325" y="4733925"/>
            <a:ext cx="1657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16:9 VIDEO</a:t>
            </a:r>
          </a:p>
        </p:txBody>
      </p:sp>
    </p:spTree>
    <p:extLst>
      <p:ext uri="{BB962C8B-B14F-4D97-AF65-F5344CB8AC3E}">
        <p14:creationId xmlns:p14="http://schemas.microsoft.com/office/powerpoint/2010/main" val="180499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F1BC1C06-D102-455D-978C-1B44C8F8435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948743-BDBF-4D10-8F93-BA0A55921E03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0D7C37-3817-4092-AF0D-6895F395AE86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8600A1-8149-43BD-89DA-1329E5984FD8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BB39D-3311-40E4-B491-5626998D843D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반복되는 작은 변화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59A66DB-AE93-4B45-82E9-D8EA6B7EC68C}"/>
              </a:ext>
            </a:extLst>
          </p:cNvPr>
          <p:cNvSpPr>
            <a:spLocks noGrp="1"/>
          </p:cNvSpPr>
          <p:nvPr/>
        </p:nvSpPr>
        <p:spPr>
          <a:xfrm>
            <a:off x="1695450" y="2352675"/>
            <a:ext cx="400050" cy="4000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A77351-F499-4AFE-B788-EBAC09E1848A}"/>
              </a:ext>
            </a:extLst>
          </p:cNvPr>
          <p:cNvSpPr>
            <a:spLocks noGrp="1"/>
          </p:cNvSpPr>
          <p:nvPr/>
        </p:nvSpPr>
        <p:spPr>
          <a:xfrm>
            <a:off x="1695450" y="2447925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 algn="ctr">
              <a:defRPr sz="9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 dirty="0" err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자</a:t>
            </a:r>
            <a:endParaRPr sz="975" b="1" dirty="0">
              <a:solidFill>
                <a:srgbClr val="10AA5D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7D3E18-1F24-493D-9056-78B9A247D03E}"/>
              </a:ext>
            </a:extLst>
          </p:cNvPr>
          <p:cNvSpPr>
            <a:spLocks noGrp="1"/>
          </p:cNvSpPr>
          <p:nvPr/>
        </p:nvSpPr>
        <p:spPr>
          <a:xfrm>
            <a:off x="2376487" y="19145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dirty="0" err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자녀</a:t>
            </a:r>
            <a:endParaRPr sz="1200" b="1" dirty="0">
              <a:solidFill>
                <a:srgbClr val="6B766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자유형 9">
            <a:extLst>
              <a:ext uri="{FF2B5EF4-FFF2-40B4-BE49-F238E27FC236}">
                <a16:creationId xmlns:a16="http://schemas.microsoft.com/office/drawing/2014/main" id="{606BCFD8-5C2A-49A0-A431-CCBF71DF35A6}"/>
              </a:ext>
            </a:extLst>
          </p:cNvPr>
          <p:cNvSpPr>
            <a:spLocks noGrp="1"/>
          </p:cNvSpPr>
          <p:nvPr/>
        </p:nvSpPr>
        <p:spPr>
          <a:xfrm>
            <a:off x="2419350" y="2886075"/>
            <a:ext cx="323850" cy="228600"/>
          </a:xfrm>
          <a:custGeom>
            <a:avLst/>
            <a:gdLst/>
            <a:ahLst/>
            <a:cxnLst/>
            <a:rect l="0" t="0" r="0" b="0"/>
            <a:pathLst>
              <a:path w="323850" h="228600">
                <a:moveTo>
                  <a:pt x="0" y="0"/>
                </a:moveTo>
                <a:lnTo>
                  <a:pt x="32385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BA4698A-4B90-4399-9A2A-BDB76AB66111}"/>
              </a:ext>
            </a:extLst>
          </p:cNvPr>
          <p:cNvSpPr>
            <a:spLocks noGrp="1"/>
          </p:cNvSpPr>
          <p:nvPr/>
        </p:nvSpPr>
        <p:spPr>
          <a:xfrm>
            <a:off x="2286000" y="2266950"/>
            <a:ext cx="2586038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428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D78993-F090-42CF-BDF5-C9484826EB06}"/>
              </a:ext>
            </a:extLst>
          </p:cNvPr>
          <p:cNvSpPr>
            <a:spLocks noGrp="1"/>
          </p:cNvSpPr>
          <p:nvPr/>
        </p:nvSpPr>
        <p:spPr>
          <a:xfrm>
            <a:off x="2476500" y="24003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엄마, 오늘 병원 다녀왔어?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5E25E54-F309-4A8B-822E-1362899DB512}"/>
              </a:ext>
            </a:extLst>
          </p:cNvPr>
          <p:cNvSpPr>
            <a:spLocks noGrp="1"/>
          </p:cNvSpPr>
          <p:nvPr/>
        </p:nvSpPr>
        <p:spPr>
          <a:xfrm>
            <a:off x="10096500" y="3162300"/>
            <a:ext cx="400050" cy="4000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0CABD9-2205-4DA7-8394-DCE3AFDFF603}"/>
              </a:ext>
            </a:extLst>
          </p:cNvPr>
          <p:cNvSpPr>
            <a:spLocks noGrp="1"/>
          </p:cNvSpPr>
          <p:nvPr/>
        </p:nvSpPr>
        <p:spPr>
          <a:xfrm>
            <a:off x="10096500" y="32575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6E68938-A63E-47FD-A3F2-B0417669DA34}"/>
              </a:ext>
            </a:extLst>
          </p:cNvPr>
          <p:cNvSpPr>
            <a:spLocks noGrp="1"/>
          </p:cNvSpPr>
          <p:nvPr/>
        </p:nvSpPr>
        <p:spPr>
          <a:xfrm>
            <a:off x="8724900" y="27908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dirty="0" err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부모</a:t>
            </a:r>
            <a:endParaRPr sz="1200" b="1" dirty="0">
              <a:solidFill>
                <a:srgbClr val="6B766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6" name="자유형 15">
            <a:extLst>
              <a:ext uri="{FF2B5EF4-FFF2-40B4-BE49-F238E27FC236}">
                <a16:creationId xmlns:a16="http://schemas.microsoft.com/office/drawing/2014/main" id="{17701CF3-7D1F-45D9-A2D1-14217FF311DA}"/>
              </a:ext>
            </a:extLst>
          </p:cNvPr>
          <p:cNvSpPr>
            <a:spLocks noGrp="1"/>
          </p:cNvSpPr>
          <p:nvPr/>
        </p:nvSpPr>
        <p:spPr>
          <a:xfrm>
            <a:off x="9353550" y="3695700"/>
            <a:ext cx="323850" cy="228600"/>
          </a:xfrm>
          <a:custGeom>
            <a:avLst/>
            <a:gdLst/>
            <a:ahLst/>
            <a:cxnLst/>
            <a:rect l="0" t="0" r="0" b="0"/>
            <a:pathLst>
              <a:path w="323850" h="228600">
                <a:moveTo>
                  <a:pt x="0" y="0"/>
                </a:moveTo>
                <a:lnTo>
                  <a:pt x="323850" y="0"/>
                </a:lnTo>
                <a:lnTo>
                  <a:pt x="323850" y="228600"/>
                </a:lnTo>
                <a:close/>
              </a:path>
            </a:pathLst>
          </a:custGeom>
          <a:solidFill>
            <a:srgbClr val="DFF1E8"/>
          </a:solidFill>
          <a:ln w="0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EF77926-7EC4-403C-9AEC-609EDE2CA704}"/>
              </a:ext>
            </a:extLst>
          </p:cNvPr>
          <p:cNvSpPr>
            <a:spLocks noGrp="1"/>
          </p:cNvSpPr>
          <p:nvPr/>
        </p:nvSpPr>
        <p:spPr>
          <a:xfrm>
            <a:off x="7272338" y="3076575"/>
            <a:ext cx="2538411" cy="666750"/>
          </a:xfrm>
          <a:prstGeom prst="roundRect">
            <a:avLst>
              <a:gd name="adj" fmla="val 114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747EC9-7582-4CCA-9FC3-7A0CA4D12302}"/>
              </a:ext>
            </a:extLst>
          </p:cNvPr>
          <p:cNvSpPr>
            <a:spLocks noGrp="1"/>
          </p:cNvSpPr>
          <p:nvPr/>
        </p:nvSpPr>
        <p:spPr>
          <a:xfrm>
            <a:off x="6000750" y="3209925"/>
            <a:ext cx="361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1500" b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병원</a:t>
            </a:r>
            <a:r>
              <a:rPr sz="1500" b="0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? </a:t>
            </a:r>
            <a:r>
              <a:rPr sz="1500" b="0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오늘</a:t>
            </a:r>
            <a:r>
              <a:rPr sz="1500" b="0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가는</a:t>
            </a:r>
            <a:r>
              <a:rPr sz="1500" b="0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날이었나</a:t>
            </a:r>
            <a:r>
              <a:rPr sz="1500" b="0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?</a:t>
            </a:r>
          </a:p>
        </p:txBody>
      </p:sp>
      <p:sp>
        <p:nvSpPr>
          <p:cNvPr id="19" name="자유형 18">
            <a:extLst>
              <a:ext uri="{FF2B5EF4-FFF2-40B4-BE49-F238E27FC236}">
                <a16:creationId xmlns:a16="http://schemas.microsoft.com/office/drawing/2014/main" id="{13237C3B-8C2C-4FE4-AD83-90848C59401E}"/>
              </a:ext>
            </a:extLst>
          </p:cNvPr>
          <p:cNvSpPr>
            <a:spLocks noGrp="1"/>
          </p:cNvSpPr>
          <p:nvPr/>
        </p:nvSpPr>
        <p:spPr>
          <a:xfrm>
            <a:off x="2419350" y="4600575"/>
            <a:ext cx="323850" cy="228600"/>
          </a:xfrm>
          <a:custGeom>
            <a:avLst/>
            <a:gdLst/>
            <a:ahLst/>
            <a:cxnLst/>
            <a:rect l="0" t="0" r="0" b="0"/>
            <a:pathLst>
              <a:path w="323850" h="228600">
                <a:moveTo>
                  <a:pt x="0" y="0"/>
                </a:moveTo>
                <a:lnTo>
                  <a:pt x="32385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EBAA072-096E-4848-8DE3-D4DC0914EF46}"/>
              </a:ext>
            </a:extLst>
          </p:cNvPr>
          <p:cNvSpPr>
            <a:spLocks noGrp="1"/>
          </p:cNvSpPr>
          <p:nvPr/>
        </p:nvSpPr>
        <p:spPr>
          <a:xfrm>
            <a:off x="2286000" y="4000500"/>
            <a:ext cx="2085975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428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CFEB28-AD6E-46A0-8806-5EB711490AFB}"/>
              </a:ext>
            </a:extLst>
          </p:cNvPr>
          <p:cNvSpPr>
            <a:spLocks noGrp="1"/>
          </p:cNvSpPr>
          <p:nvPr/>
        </p:nvSpPr>
        <p:spPr>
          <a:xfrm>
            <a:off x="2476500" y="4133850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어제도 말했잖아 ㅎㅎ</a:t>
            </a:r>
          </a:p>
        </p:txBody>
      </p:sp>
      <p:sp>
        <p:nvSpPr>
          <p:cNvPr id="22" name="자유형 21">
            <a:extLst>
              <a:ext uri="{FF2B5EF4-FFF2-40B4-BE49-F238E27FC236}">
                <a16:creationId xmlns:a16="http://schemas.microsoft.com/office/drawing/2014/main" id="{08CADD92-5B4D-4FA8-A272-A1C914722C2D}"/>
              </a:ext>
            </a:extLst>
          </p:cNvPr>
          <p:cNvSpPr>
            <a:spLocks noGrp="1"/>
          </p:cNvSpPr>
          <p:nvPr/>
        </p:nvSpPr>
        <p:spPr>
          <a:xfrm>
            <a:off x="9353550" y="5410200"/>
            <a:ext cx="323850" cy="228600"/>
          </a:xfrm>
          <a:custGeom>
            <a:avLst/>
            <a:gdLst/>
            <a:ahLst/>
            <a:cxnLst/>
            <a:rect l="0" t="0" r="0" b="0"/>
            <a:pathLst>
              <a:path w="323850" h="228600">
                <a:moveTo>
                  <a:pt x="0" y="0"/>
                </a:moveTo>
                <a:lnTo>
                  <a:pt x="323850" y="0"/>
                </a:lnTo>
                <a:lnTo>
                  <a:pt x="323850" y="228600"/>
                </a:lnTo>
                <a:close/>
              </a:path>
            </a:pathLst>
          </a:custGeom>
          <a:solidFill>
            <a:srgbClr val="DFF1E8"/>
          </a:solidFill>
          <a:ln w="0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CBDA430A-3A76-44EB-A20C-E627FB6F2BC4}"/>
              </a:ext>
            </a:extLst>
          </p:cNvPr>
          <p:cNvSpPr>
            <a:spLocks noGrp="1"/>
          </p:cNvSpPr>
          <p:nvPr/>
        </p:nvSpPr>
        <p:spPr>
          <a:xfrm>
            <a:off x="7829550" y="4810125"/>
            <a:ext cx="1981200" cy="647700"/>
          </a:xfrm>
          <a:prstGeom prst="roundRect">
            <a:avLst>
              <a:gd name="adj" fmla="val 11765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1F6275-B656-4968-9490-BD5CE8391ABD}"/>
              </a:ext>
            </a:extLst>
          </p:cNvPr>
          <p:cNvSpPr>
            <a:spLocks noGrp="1"/>
          </p:cNvSpPr>
          <p:nvPr/>
        </p:nvSpPr>
        <p:spPr>
          <a:xfrm>
            <a:off x="6762750" y="4943475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1500" b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아 맞다, 깜빡했네.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9FE0D5C-5517-BBEC-02B9-8911A6448996}"/>
              </a:ext>
            </a:extLst>
          </p:cNvPr>
          <p:cNvSpPr>
            <a:spLocks noGrp="1"/>
          </p:cNvSpPr>
          <p:nvPr/>
        </p:nvSpPr>
        <p:spPr>
          <a:xfrm>
            <a:off x="1695450" y="4161122"/>
            <a:ext cx="400050" cy="4000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087B6A7-067E-D41E-1CA7-BF2126641C7D}"/>
              </a:ext>
            </a:extLst>
          </p:cNvPr>
          <p:cNvSpPr>
            <a:spLocks noGrp="1"/>
          </p:cNvSpPr>
          <p:nvPr/>
        </p:nvSpPr>
        <p:spPr>
          <a:xfrm>
            <a:off x="1695450" y="4256372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 algn="ctr">
              <a:defRPr sz="9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 dirty="0" err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자</a:t>
            </a:r>
            <a:endParaRPr sz="975" b="1" dirty="0">
              <a:solidFill>
                <a:srgbClr val="10AA5D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130537C-5C15-B7DB-7149-7A231FD45E07}"/>
              </a:ext>
            </a:extLst>
          </p:cNvPr>
          <p:cNvSpPr>
            <a:spLocks noGrp="1"/>
          </p:cNvSpPr>
          <p:nvPr/>
        </p:nvSpPr>
        <p:spPr>
          <a:xfrm>
            <a:off x="10096500" y="4950101"/>
            <a:ext cx="400050" cy="4000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E502D31-DDCA-B70D-16A9-2C355BCA1A6B}"/>
              </a:ext>
            </a:extLst>
          </p:cNvPr>
          <p:cNvSpPr>
            <a:spLocks noGrp="1"/>
          </p:cNvSpPr>
          <p:nvPr/>
        </p:nvSpPr>
        <p:spPr>
          <a:xfrm>
            <a:off x="10096500" y="5045351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</a:t>
            </a:r>
          </a:p>
        </p:txBody>
      </p:sp>
    </p:spTree>
    <p:extLst>
      <p:ext uri="{BB962C8B-B14F-4D97-AF65-F5344CB8AC3E}">
        <p14:creationId xmlns:p14="http://schemas.microsoft.com/office/powerpoint/2010/main" val="116064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61676A4B-4632-4B16-892A-3E6746345D6E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482E9A-16A9-42F2-AA88-DF5FB090808E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D65978F-23FE-42DC-B9BB-730F29BCB93F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550A19-753C-4ACE-B80B-C4C5971339C7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420224-FAFB-464A-9F99-95CE70F4A97A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2550" b="1" dirty="0"/>
              <a:t>가족과 떨어져 지내는 부모님의 하루</a:t>
            </a:r>
            <a:endParaRPr sz="2550" b="1" dirty="0">
              <a:solidFill>
                <a:srgbClr val="1E28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7319FAD-1511-4778-9836-3E29E539E60C}"/>
              </a:ext>
            </a:extLst>
          </p:cNvPr>
          <p:cNvSpPr>
            <a:spLocks noGrp="1"/>
          </p:cNvSpPr>
          <p:nvPr/>
        </p:nvSpPr>
        <p:spPr>
          <a:xfrm>
            <a:off x="1695450" y="2381250"/>
            <a:ext cx="400050" cy="4000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66628D-D3C5-40AA-9293-40412BB8DA66}"/>
              </a:ext>
            </a:extLst>
          </p:cNvPr>
          <p:cNvSpPr>
            <a:spLocks noGrp="1"/>
          </p:cNvSpPr>
          <p:nvPr/>
        </p:nvSpPr>
        <p:spPr>
          <a:xfrm>
            <a:off x="1695450" y="24765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 algn="ctr">
              <a:defRPr sz="9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F2B37E-6843-4E53-936D-7342DA5022EE}"/>
              </a:ext>
            </a:extLst>
          </p:cNvPr>
          <p:cNvSpPr>
            <a:spLocks noGrp="1"/>
          </p:cNvSpPr>
          <p:nvPr/>
        </p:nvSpPr>
        <p:spPr>
          <a:xfrm>
            <a:off x="2419350" y="2000250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dirty="0" err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자녀</a:t>
            </a:r>
            <a:endParaRPr sz="1200" b="1" dirty="0">
              <a:solidFill>
                <a:srgbClr val="6B766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자유형 9">
            <a:extLst>
              <a:ext uri="{FF2B5EF4-FFF2-40B4-BE49-F238E27FC236}">
                <a16:creationId xmlns:a16="http://schemas.microsoft.com/office/drawing/2014/main" id="{B0B52DFA-2534-4D46-9BA3-CF6BCD451A17}"/>
              </a:ext>
            </a:extLst>
          </p:cNvPr>
          <p:cNvSpPr>
            <a:spLocks noGrp="1"/>
          </p:cNvSpPr>
          <p:nvPr/>
        </p:nvSpPr>
        <p:spPr>
          <a:xfrm>
            <a:off x="2419350" y="2886075"/>
            <a:ext cx="323850" cy="228600"/>
          </a:xfrm>
          <a:custGeom>
            <a:avLst/>
            <a:gdLst/>
            <a:ahLst/>
            <a:cxnLst/>
            <a:rect l="0" t="0" r="0" b="0"/>
            <a:pathLst>
              <a:path w="323850" h="228600">
                <a:moveTo>
                  <a:pt x="0" y="0"/>
                </a:moveTo>
                <a:lnTo>
                  <a:pt x="32385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218DFB33-BB95-4022-994D-C5A09D8D5774}"/>
              </a:ext>
            </a:extLst>
          </p:cNvPr>
          <p:cNvSpPr>
            <a:spLocks noGrp="1"/>
          </p:cNvSpPr>
          <p:nvPr/>
        </p:nvSpPr>
        <p:spPr>
          <a:xfrm>
            <a:off x="2286000" y="2305050"/>
            <a:ext cx="2128838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428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B66991-12F9-4531-AA5F-3E6F44CA6772}"/>
              </a:ext>
            </a:extLst>
          </p:cNvPr>
          <p:cNvSpPr>
            <a:spLocks noGrp="1"/>
          </p:cNvSpPr>
          <p:nvPr/>
        </p:nvSpPr>
        <p:spPr>
          <a:xfrm>
            <a:off x="2476500" y="24384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엄마 오늘은 뭐 했어?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71AC284-91E0-453F-9E9B-C486142CD18A}"/>
              </a:ext>
            </a:extLst>
          </p:cNvPr>
          <p:cNvSpPr>
            <a:spLocks noGrp="1"/>
          </p:cNvSpPr>
          <p:nvPr/>
        </p:nvSpPr>
        <p:spPr>
          <a:xfrm>
            <a:off x="10096500" y="3238500"/>
            <a:ext cx="400050" cy="4000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7C50E5-3FA8-42C7-B6B4-DE28F06D86B4}"/>
              </a:ext>
            </a:extLst>
          </p:cNvPr>
          <p:cNvSpPr>
            <a:spLocks noGrp="1"/>
          </p:cNvSpPr>
          <p:nvPr/>
        </p:nvSpPr>
        <p:spPr>
          <a:xfrm>
            <a:off x="10096500" y="33337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74F879-2E44-47B2-A9E9-2FE006960525}"/>
              </a:ext>
            </a:extLst>
          </p:cNvPr>
          <p:cNvSpPr>
            <a:spLocks noGrp="1"/>
          </p:cNvSpPr>
          <p:nvPr/>
        </p:nvSpPr>
        <p:spPr>
          <a:xfrm>
            <a:off x="8724900" y="2895600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dirty="0" err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부모</a:t>
            </a:r>
            <a:endParaRPr sz="1200" b="1" dirty="0">
              <a:solidFill>
                <a:srgbClr val="6B766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6" name="자유형 15">
            <a:extLst>
              <a:ext uri="{FF2B5EF4-FFF2-40B4-BE49-F238E27FC236}">
                <a16:creationId xmlns:a16="http://schemas.microsoft.com/office/drawing/2014/main" id="{4C5F8578-F068-4F07-954B-F6E333CD703F}"/>
              </a:ext>
            </a:extLst>
          </p:cNvPr>
          <p:cNvSpPr>
            <a:spLocks noGrp="1"/>
          </p:cNvSpPr>
          <p:nvPr/>
        </p:nvSpPr>
        <p:spPr>
          <a:xfrm>
            <a:off x="9353550" y="3743325"/>
            <a:ext cx="323850" cy="228600"/>
          </a:xfrm>
          <a:custGeom>
            <a:avLst/>
            <a:gdLst/>
            <a:ahLst/>
            <a:cxnLst/>
            <a:rect l="0" t="0" r="0" b="0"/>
            <a:pathLst>
              <a:path w="323850" h="228600">
                <a:moveTo>
                  <a:pt x="0" y="0"/>
                </a:moveTo>
                <a:lnTo>
                  <a:pt x="323850" y="0"/>
                </a:lnTo>
                <a:lnTo>
                  <a:pt x="323850" y="228600"/>
                </a:lnTo>
                <a:close/>
              </a:path>
            </a:pathLst>
          </a:custGeom>
          <a:solidFill>
            <a:srgbClr val="DFF1E8"/>
          </a:solidFill>
          <a:ln w="0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8700149-34AC-47B7-BEF0-CA9FD896FD9C}"/>
              </a:ext>
            </a:extLst>
          </p:cNvPr>
          <p:cNvSpPr>
            <a:spLocks noGrp="1"/>
          </p:cNvSpPr>
          <p:nvPr/>
        </p:nvSpPr>
        <p:spPr>
          <a:xfrm>
            <a:off x="7872412" y="3162300"/>
            <a:ext cx="1938337" cy="628650"/>
          </a:xfrm>
          <a:prstGeom prst="roundRect">
            <a:avLst>
              <a:gd name="adj" fmla="val 12121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90D7AE-A079-4681-8D29-7761AC05D61D}"/>
              </a:ext>
            </a:extLst>
          </p:cNvPr>
          <p:cNvSpPr>
            <a:spLocks noGrp="1"/>
          </p:cNvSpPr>
          <p:nvPr/>
        </p:nvSpPr>
        <p:spPr>
          <a:xfrm>
            <a:off x="6858000" y="329565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1500" b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그냥 집에 있었지.</a:t>
            </a:r>
          </a:p>
        </p:txBody>
      </p:sp>
      <p:sp>
        <p:nvSpPr>
          <p:cNvPr id="19" name="자유형 18">
            <a:extLst>
              <a:ext uri="{FF2B5EF4-FFF2-40B4-BE49-F238E27FC236}">
                <a16:creationId xmlns:a16="http://schemas.microsoft.com/office/drawing/2014/main" id="{9E5015E5-6614-43D3-ABC7-DABA2301378E}"/>
              </a:ext>
            </a:extLst>
          </p:cNvPr>
          <p:cNvSpPr>
            <a:spLocks noGrp="1"/>
          </p:cNvSpPr>
          <p:nvPr/>
        </p:nvSpPr>
        <p:spPr>
          <a:xfrm>
            <a:off x="9353550" y="4772025"/>
            <a:ext cx="323850" cy="228600"/>
          </a:xfrm>
          <a:custGeom>
            <a:avLst/>
            <a:gdLst/>
            <a:ahLst/>
            <a:cxnLst/>
            <a:rect l="0" t="0" r="0" b="0"/>
            <a:pathLst>
              <a:path w="323850" h="228600">
                <a:moveTo>
                  <a:pt x="0" y="0"/>
                </a:moveTo>
                <a:lnTo>
                  <a:pt x="323850" y="0"/>
                </a:lnTo>
                <a:lnTo>
                  <a:pt x="323850" y="228600"/>
                </a:lnTo>
                <a:close/>
              </a:path>
            </a:pathLst>
          </a:custGeom>
          <a:solidFill>
            <a:srgbClr val="DFF1E8"/>
          </a:solidFill>
          <a:ln w="0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7E8E0DC-1A42-41EB-A936-E12FB8D67FB8}"/>
              </a:ext>
            </a:extLst>
          </p:cNvPr>
          <p:cNvSpPr>
            <a:spLocks noGrp="1"/>
          </p:cNvSpPr>
          <p:nvPr/>
        </p:nvSpPr>
        <p:spPr>
          <a:xfrm>
            <a:off x="6600824" y="4095750"/>
            <a:ext cx="3209925" cy="723900"/>
          </a:xfrm>
          <a:prstGeom prst="roundRect">
            <a:avLst>
              <a:gd name="adj" fmla="val 11842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A9FBA93-7016-4F2A-861B-576F0F5FAD5A}"/>
              </a:ext>
            </a:extLst>
          </p:cNvPr>
          <p:cNvSpPr>
            <a:spLocks noGrp="1"/>
          </p:cNvSpPr>
          <p:nvPr/>
        </p:nvSpPr>
        <p:spPr>
          <a:xfrm>
            <a:off x="5905500" y="4229100"/>
            <a:ext cx="3714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1500" b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요즘 혼자 있으니까 조금 심심하네.</a:t>
            </a:r>
          </a:p>
        </p:txBody>
      </p:sp>
      <p:sp>
        <p:nvSpPr>
          <p:cNvPr id="22" name="자유형 21">
            <a:extLst>
              <a:ext uri="{FF2B5EF4-FFF2-40B4-BE49-F238E27FC236}">
                <a16:creationId xmlns:a16="http://schemas.microsoft.com/office/drawing/2014/main" id="{0746106D-841D-49B9-889B-F0232F3C94F0}"/>
              </a:ext>
            </a:extLst>
          </p:cNvPr>
          <p:cNvSpPr>
            <a:spLocks noGrp="1"/>
          </p:cNvSpPr>
          <p:nvPr/>
        </p:nvSpPr>
        <p:spPr>
          <a:xfrm>
            <a:off x="2419350" y="5467350"/>
            <a:ext cx="323850" cy="228600"/>
          </a:xfrm>
          <a:custGeom>
            <a:avLst/>
            <a:gdLst/>
            <a:ahLst/>
            <a:cxnLst/>
            <a:rect l="0" t="0" r="0" b="0"/>
            <a:pathLst>
              <a:path w="323850" h="228600">
                <a:moveTo>
                  <a:pt x="0" y="0"/>
                </a:moveTo>
                <a:lnTo>
                  <a:pt x="32385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B4FD1547-24B6-491B-ADEF-3AC7E32124CF}"/>
              </a:ext>
            </a:extLst>
          </p:cNvPr>
          <p:cNvSpPr>
            <a:spLocks noGrp="1"/>
          </p:cNvSpPr>
          <p:nvPr/>
        </p:nvSpPr>
        <p:spPr>
          <a:xfrm>
            <a:off x="2286000" y="4905375"/>
            <a:ext cx="2128838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722494F-4D7D-417D-AB1E-5890B492BF79}"/>
              </a:ext>
            </a:extLst>
          </p:cNvPr>
          <p:cNvSpPr>
            <a:spLocks noGrp="1"/>
          </p:cNvSpPr>
          <p:nvPr/>
        </p:nvSpPr>
        <p:spPr>
          <a:xfrm>
            <a:off x="2476500" y="5038725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주말에 내가 갈게 ㅎㅎ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FF8D1E-BDF7-49E3-A7E9-ED2C239E9FB5}"/>
              </a:ext>
            </a:extLst>
          </p:cNvPr>
          <p:cNvSpPr>
            <a:spLocks noGrp="1"/>
          </p:cNvSpPr>
          <p:nvPr/>
        </p:nvSpPr>
        <p:spPr>
          <a:xfrm>
            <a:off x="857250" y="595312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ctr">
              <a:defRPr sz="17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작은 변화가 반복되어도 가족이 매일 확인하기는 쉽지 않습니다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B54646F-6E6B-B907-73A8-E8DF15E1872F}"/>
              </a:ext>
            </a:extLst>
          </p:cNvPr>
          <p:cNvSpPr>
            <a:spLocks noGrp="1"/>
          </p:cNvSpPr>
          <p:nvPr/>
        </p:nvSpPr>
        <p:spPr>
          <a:xfrm>
            <a:off x="1695450" y="4986338"/>
            <a:ext cx="400050" cy="4000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B7AB513-C0B0-E90F-5C3E-05B5563C051E}"/>
              </a:ext>
            </a:extLst>
          </p:cNvPr>
          <p:cNvSpPr>
            <a:spLocks noGrp="1"/>
          </p:cNvSpPr>
          <p:nvPr/>
        </p:nvSpPr>
        <p:spPr>
          <a:xfrm>
            <a:off x="1695450" y="5081587"/>
            <a:ext cx="400050" cy="1990724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87"/>
          </a:bodyPr>
          <a:lstStyle/>
          <a:p>
            <a:pPr algn="ctr">
              <a:defRPr sz="9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 dirty="0" err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자</a:t>
            </a:r>
            <a:endParaRPr sz="975" b="1" dirty="0">
              <a:solidFill>
                <a:srgbClr val="10AA5D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157815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2D7D77-64AE-426F-B80F-4861312A579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F1C020-52AF-43B6-9EEE-F200B02188B8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SOLUTION VIDEO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730135-E008-4888-A09E-4AE525001FE8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BA0089-B925-4C84-9C04-2C5E997E28D3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E7DFDF-CA12-4194-AEB0-8FAC678EC41F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255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일상 속 작은 변화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4D4EC7D-4579-4A78-990C-1499DF6EFF43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439400" cy="4000500"/>
          </a:xfrm>
          <a:prstGeom prst="roundRect">
            <a:avLst>
              <a:gd name="adj" fmla="val 3333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9315171-7ECE-413B-9B56-F1264812A0B1}"/>
              </a:ext>
            </a:extLst>
          </p:cNvPr>
          <p:cNvSpPr>
            <a:spLocks noGrp="1"/>
          </p:cNvSpPr>
          <p:nvPr/>
        </p:nvSpPr>
        <p:spPr>
          <a:xfrm>
            <a:off x="1000125" y="2076450"/>
            <a:ext cx="10191750" cy="3752850"/>
          </a:xfrm>
          <a:prstGeom prst="roundRect">
            <a:avLst>
              <a:gd name="adj" fmla="val 3553"/>
            </a:avLst>
          </a:prstGeom>
          <a:solidFill>
            <a:srgbClr val="F4F8F4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33101B-9684-46F9-B07B-0EB4309EE9D0}"/>
              </a:ext>
            </a:extLst>
          </p:cNvPr>
          <p:cNvSpPr>
            <a:spLocks noGrp="1"/>
          </p:cNvSpPr>
          <p:nvPr/>
        </p:nvSpPr>
        <p:spPr>
          <a:xfrm>
            <a:off x="3524250" y="333375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20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dirty="0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[AI </a:t>
            </a:r>
            <a:r>
              <a:rPr sz="2025" b="1" dirty="0" err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영상</a:t>
            </a:r>
            <a:r>
              <a:rPr sz="2025" b="1" dirty="0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]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42BFD08-BDB7-4DFA-B4AD-9243BED403D8}"/>
              </a:ext>
            </a:extLst>
          </p:cNvPr>
          <p:cNvSpPr>
            <a:spLocks noGrp="1"/>
          </p:cNvSpPr>
          <p:nvPr/>
        </p:nvSpPr>
        <p:spPr>
          <a:xfrm>
            <a:off x="5191125" y="468630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381C98-8C27-4890-80D4-DE10414E6AB8}"/>
              </a:ext>
            </a:extLst>
          </p:cNvPr>
          <p:cNvSpPr>
            <a:spLocks noGrp="1"/>
          </p:cNvSpPr>
          <p:nvPr/>
        </p:nvSpPr>
        <p:spPr>
          <a:xfrm>
            <a:off x="5267325" y="4733925"/>
            <a:ext cx="1657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16:9 VIDEO</a:t>
            </a:r>
          </a:p>
        </p:txBody>
      </p:sp>
    </p:spTree>
    <p:extLst>
      <p:ext uri="{BB962C8B-B14F-4D97-AF65-F5344CB8AC3E}">
        <p14:creationId xmlns:p14="http://schemas.microsoft.com/office/powerpoint/2010/main" val="1220951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E9B3F8-E06A-4219-84F5-C36F87B31FDD}"/>
              </a:ext>
            </a:extLst>
          </p:cNvPr>
          <p:cNvSpPr>
            <a:spLocks noGrp="1"/>
          </p:cNvSpPr>
          <p:nvPr/>
        </p:nvSpPr>
        <p:spPr>
          <a:xfrm>
            <a:off x="714375" y="76200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VOICE-BASED COGNITIVE SCREENING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A05854-A01B-49A9-BF57-1A8EED1DE85E}"/>
              </a:ext>
            </a:extLst>
          </p:cNvPr>
          <p:cNvSpPr>
            <a:spLocks noGrp="1"/>
          </p:cNvSpPr>
          <p:nvPr/>
        </p:nvSpPr>
        <p:spPr>
          <a:xfrm>
            <a:off x="714375" y="1381125"/>
            <a:ext cx="5715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늘봄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ED16FA-DDB5-4AFB-89F9-7BC056CCE4C3}"/>
              </a:ext>
            </a:extLst>
          </p:cNvPr>
          <p:cNvSpPr>
            <a:spLocks noGrp="1"/>
          </p:cNvSpPr>
          <p:nvPr/>
        </p:nvSpPr>
        <p:spPr>
          <a:xfrm>
            <a:off x="742949" y="2571750"/>
            <a:ext cx="10044113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검사와</a:t>
            </a:r>
            <a:r>
              <a:rPr sz="21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일상</a:t>
            </a:r>
            <a:r>
              <a:rPr sz="21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기록을</a:t>
            </a:r>
            <a:r>
              <a:rPr sz="21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이어주는</a:t>
            </a:r>
            <a:r>
              <a:rPr lang="ko-KR" altLang="en-US" sz="21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모바일</a:t>
            </a:r>
            <a:r>
              <a:rPr sz="21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인지</a:t>
            </a:r>
            <a:r>
              <a:rPr sz="21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스크리닝</a:t>
            </a:r>
            <a:r>
              <a:rPr sz="21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서비스</a:t>
            </a:r>
            <a:endParaRPr sz="2175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29C8ECF-0E2E-4F83-B3E5-C21717AA563A}"/>
              </a:ext>
            </a:extLst>
          </p:cNvPr>
          <p:cNvSpPr>
            <a:spLocks noGrp="1"/>
          </p:cNvSpPr>
          <p:nvPr/>
        </p:nvSpPr>
        <p:spPr>
          <a:xfrm>
            <a:off x="833438" y="3267075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B26E21-1451-4340-8954-748B2A4F8F9D}"/>
              </a:ext>
            </a:extLst>
          </p:cNvPr>
          <p:cNvSpPr>
            <a:spLocks noGrp="1"/>
          </p:cNvSpPr>
          <p:nvPr/>
        </p:nvSpPr>
        <p:spPr>
          <a:xfrm>
            <a:off x="909638" y="3314700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음성 분석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4E952C7-890C-4E96-83C8-D3728ED8EDCE}"/>
              </a:ext>
            </a:extLst>
          </p:cNvPr>
          <p:cNvSpPr>
            <a:spLocks noGrp="1"/>
          </p:cNvSpPr>
          <p:nvPr/>
        </p:nvSpPr>
        <p:spPr>
          <a:xfrm>
            <a:off x="2109788" y="3267075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98F25D-A395-450C-B16A-C6B287A3DF76}"/>
              </a:ext>
            </a:extLst>
          </p:cNvPr>
          <p:cNvSpPr>
            <a:spLocks noGrp="1"/>
          </p:cNvSpPr>
          <p:nvPr/>
        </p:nvSpPr>
        <p:spPr>
          <a:xfrm>
            <a:off x="2185988" y="3314700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반복 기록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A75E7AA-38BC-44D9-BDF9-7D65E78E0A6D}"/>
              </a:ext>
            </a:extLst>
          </p:cNvPr>
          <p:cNvSpPr>
            <a:spLocks noGrp="1"/>
          </p:cNvSpPr>
          <p:nvPr/>
        </p:nvSpPr>
        <p:spPr>
          <a:xfrm>
            <a:off x="3386138" y="3267075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278996-0B83-4ABF-A33B-A9BE5ABE1DCD}"/>
              </a:ext>
            </a:extLst>
          </p:cNvPr>
          <p:cNvSpPr>
            <a:spLocks noGrp="1"/>
          </p:cNvSpPr>
          <p:nvPr/>
        </p:nvSpPr>
        <p:spPr>
          <a:xfrm>
            <a:off x="3462338" y="3314700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팥이 성장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A6D11F9C-87D4-4CCA-B2ED-591C3B31535E}"/>
              </a:ext>
            </a:extLst>
          </p:cNvPr>
          <p:cNvSpPr>
            <a:spLocks noGrp="1"/>
          </p:cNvSpPr>
          <p:nvPr/>
        </p:nvSpPr>
        <p:spPr>
          <a:xfrm>
            <a:off x="4662488" y="3267075"/>
            <a:ext cx="123825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1FE753-9C76-4432-839F-A6CAE85E716F}"/>
              </a:ext>
            </a:extLst>
          </p:cNvPr>
          <p:cNvSpPr>
            <a:spLocks noGrp="1"/>
          </p:cNvSpPr>
          <p:nvPr/>
        </p:nvSpPr>
        <p:spPr>
          <a:xfrm>
            <a:off x="4738688" y="3314700"/>
            <a:ext cx="10858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보호자 연계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CCECB6E-1812-421A-2EE7-AB4C81C37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764" y="2722907"/>
            <a:ext cx="3199666" cy="373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72BEF4C-207C-40D8-9FC7-AC4550FC9EC6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회원가입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806F82-93FD-4F59-B527-107E1A8FB462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사용자 역할에 맞는 계정을 생성합니다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7F69366-0BA1-4EE1-BB38-8420953C42D7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3C93022-6D28-4D59-8E8D-98B41AAA0685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0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BBE7D3D6-5ECE-46B6-936B-D97651793F3C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5F2737B-3845-4869-8E91-5D566FA1269C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1C6557-2CD5-4A59-97E7-A976F80BC60C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이메일 · 비밀번호 · 역할 선택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C6A0D59-1226-4971-BBA1-8C70CF6524A3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261449-6633-4B08-AC53-2D56F4F2A027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계정 생성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3D8FA71-1C07-474A-BDA1-08EEC6DDD70D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서비스 이용의 시작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F149BA-7E69-4C43-96CF-D88E7BE82C1F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1A45E1-DB56-426B-BA4A-D0922151980C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고령자와 보호자 역할을 구분해 계정을 생성하고 이후 화면 흐름을 분리합니다.</a:t>
            </a:r>
          </a:p>
        </p:txBody>
      </p:sp>
      <p:pic>
        <p:nvPicPr>
          <p:cNvPr id="102" name="나레이션 07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5671"/>
      </p:ext>
    </p:extLst>
  </p:cSld>
  <p:clrMapOvr>
    <a:masterClrMapping/>
  </p:clrMapOvr>
  <p:transition spd="med" advClick="1" advTm="10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8784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E877F1-8AF5-4BC6-AB15-39FDC4781E2A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동의와 초기 정보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1FBE44-C074-497D-9219-3D9EBEE6721C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검사 전에 필요한 정보와 동의 상태를 저장합니다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51A53A8-A879-425F-9A1D-240DE9B921EE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4BC4F66-E8F5-42E9-AA73-2ACB4107F5FD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0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DD4831D-1EFE-4763-ADA2-7D3A0D2FF34A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C6FEC3D-CB49-404D-80DA-5CE3B992F497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B80A11-2743-4EC9-B5EE-CD31DC763909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개인정보 · 음성 · 분석 · 보호자 접근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590B6B2-FF4C-4E89-BCF1-FCC3AEB4B8F1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318DAD-4909-423C-818C-CA9643BFBB75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온보딩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5DA374-0DBA-4DB6-9C72-B8DACFEBE49D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필요한 범위만 동의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D5A8CC-34B5-4D29-A5E5-50605720F63E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EF0B95-3FF1-4D2C-B4EE-46C9CCEE2D66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개인정보와 음성 분석 동의를 확인하고 청취 설정과 기본 정보를 입력합니다.</a:t>
            </a:r>
          </a:p>
        </p:txBody>
      </p:sp>
      <p:pic>
        <p:nvPicPr>
          <p:cNvPr id="102" name="나레이션 08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15788"/>
      </p:ext>
    </p:extLst>
  </p:cSld>
  <p:clrMapOvr>
    <a:masterClrMapping/>
  </p:clrMapOvr>
  <p:transition spd="med" advClick="1" advTm="13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368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BFF105B-7C89-48A7-8500-36A5054F2863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초기 CIST 검사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4BCDBB-E420-4AAB-8FCB-949C98F31A43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첫 검사 결과를 이후 변화 비교의 기준으로 사용합니다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350D74BA-7C50-4506-8D3A-1CB0B1BD77C9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762CC62-9E5C-4D4C-847D-04004BB0F5F4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0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2CE12BB-EF2E-4603-8193-804605490120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6471932-C7DF-4F51-BA08-401D9B9CD5F8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F168B3-5619-4A6D-9C09-E62E1B1480BE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5개 문항 · 음성 답변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3EBCAF0-AC62-4002-9A17-A19F5313AED7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9BBFD4-A26F-4FF3-99C0-3AC3E62CF2B5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B46CAB-B8B9-4807-9CB8-B2721EFD0D0E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최초 기준 결과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F9F934-F05E-4B82-ADFA-6C64E93C312F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187496-92B6-46AB-8074-28552299A385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팥이의 안내에 따라 문항별로 음성 응답을 남기고 초기 기준 결과를 생성합니다.</a:t>
            </a:r>
          </a:p>
        </p:txBody>
      </p:sp>
      <p:pic>
        <p:nvPicPr>
          <p:cNvPr id="102" name="나레이션 09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36784"/>
      </p:ext>
    </p:extLst>
  </p:cSld>
  <p:clrMapOvr>
    <a:masterClrMapping/>
  </p:clrMapOvr>
  <p:transition spd="med" advClick="1" advTm="19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4608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60F0E38-0A4E-479D-9FEB-C87418F90682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고령자 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4EDFAF-6D04-4A18-9EE2-4068B9C6CB5E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오늘 필요한 활동과 최근 기록을 확인합니다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06BA853-3CA5-4466-B52B-C0A27D90A6FC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0C1871F-97EE-49DB-9EFA-1CAFB9A7CD05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1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D93AE40-4C93-43E9-99F8-DD775936CB5E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EFFAA43-7827-400F-A315-E85DFB9B4912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1675B0-BD9B-4291-A9EA-A498903D7E96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팥이 · 진행 현황 · 최근 결과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27F04C2-26E4-4453-9F16-6EE315B26763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4F071A-2D4F-4C57-9EA1-78A8E542DEB6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HOME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832546-5C00-4680-9058-B1379EB3FA64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오늘 할 일을 한눈에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5B4674-22F5-4013-8BAC-8EB792472C53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C497C2A-B2AA-455F-9F26-3107F0AC4AD8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홈에서 오늘의 검사와 활동, 최근 기록, 팥이 상태를 확인합니다.</a:t>
            </a:r>
          </a:p>
        </p:txBody>
      </p:sp>
      <p:pic>
        <p:nvPicPr>
          <p:cNvPr id="102" name="나레이션 10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20038"/>
      </p:ext>
    </p:extLst>
  </p:cSld>
  <p:clrMapOvr>
    <a:masterClrMapping/>
  </p:clrMapOvr>
  <p:transition spd="med" advClick="1" advTm="6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4896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6BABB91-74F2-4B21-AB56-0D4983171460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팥이와 오늘의 활동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E745EC-7CE0-46FF-B6DD-2A2536280B1D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검사와 문답, 게임을 부담 없이 선택합니다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327589CE-BF4E-403B-9FBE-B4BFECC95778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A28314F-88A7-4CCB-967C-809C29CC472E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5278FA4-8413-4551-AA8E-0CE7D7BB03DD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B6AFB95-289B-4AD4-9D99-DFA33134FFB4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6C1830-C2E6-4FE3-8F7D-9A4FB294B6EC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검사 · AI 문답 · 게임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2AE3E07-5CD0-419E-81A2-E5BCE56A3688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321698-0828-4FF6-AB17-AE2D8933CB06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TODAY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6FE726-6E4D-4528-B8CC-5B7360673FCD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팥이의 안내로 활동 선택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55CA18-4D12-4DC0-8A56-726319F89B42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3A6E1B-9BDF-4AA3-A285-CC6330E0258B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사용자는 팥이의 안내에 따라 필요한 활동을 선택하고 진행 상황을 확인합니다.</a:t>
            </a:r>
          </a:p>
        </p:txBody>
      </p:sp>
      <p:pic>
        <p:nvPicPr>
          <p:cNvPr id="102" name="나레이션 11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46494"/>
      </p:ext>
    </p:extLst>
  </p:cSld>
  <p:clrMapOvr>
    <a:masterClrMapping/>
  </p:clrMapOvr>
  <p:transition spd="med" advClick="1" advTm="7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952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862CD63-76A8-4EBF-B968-D8F434442222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AI 문답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7DE86F-416F-4FED-8DAA-C9F743581A11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팥이가 일상과 감정을 묻습니다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A7E0EC0-5CFB-4691-8BCF-02D701931BFB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E6FDA49-FD65-43D8-914B-E89CD0E654BA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1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BA03A3C-5451-41E7-B22F-814D9C9B5039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27DA017-A145-4DE6-9CE2-4A609273EE03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36F5BE-4F78-48D3-B969-485895E27D5B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질문 표시 · TTS 안내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7EEFAC8-D130-4500-BD12-5AAD8ABFCD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6C2B5E-BBD5-4E80-B375-7872F752D164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QUESTION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DD577D-DCD4-4CA5-96EF-A04A4E433B35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대화하듯 진행하는 문답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F2F2A8-61DB-4E9D-8A5B-B22F30CCE8FD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1BDE7D3-613D-4BAB-920F-BB705F413F4E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사용자는 화면과 음성으로 제시되는 질문에 자신의 목소리로 답합니다.</a:t>
            </a:r>
          </a:p>
        </p:txBody>
      </p:sp>
      <p:pic>
        <p:nvPicPr>
          <p:cNvPr id="102" name="나레이션 12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85540"/>
      </p:ext>
    </p:extLst>
  </p:cSld>
  <p:clrMapOvr>
    <a:masterClrMapping/>
  </p:clrMapOvr>
  <p:transition spd="med" advClick="1" advTm="123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936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93B880A-3606-4CF2-9898-CB1ECF141F46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음성 녹음과 인식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D49EA8-0E11-4690-AFEB-BCD246F59C37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답변 음성과 전사 결과를 함께 저장합니다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70B8B13-5EA2-4EA3-B5B3-91FBE87F424A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68E5893-20AC-4EF5-8A22-48B675E5E889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1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CCF721F-212D-4E4E-97DE-77AF4E20A746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A0DB0E1-1470-4543-A6AB-2E97B28D9CF2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86574E-66B8-421C-AB39-E1244AF2F83B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녹음 · 파형 · STT 전사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5A0E7CA-40B6-4862-ADD1-E5197134105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9998B8-D7C3-46AE-B443-ACCAF8BDED00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VOICE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D8DEED-0E4C-4ACF-8F8B-6135D6347BB5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말한 내용과 음성 정보 수집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6C15CA-B6FA-4168-A292-186E8469F8B9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453688-DDE9-4AB1-9196-F5F66215CE0F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문항별 녹음을 업로드하고 STT가 답변을 텍스트로 변환합니다.</a:t>
            </a:r>
          </a:p>
        </p:txBody>
      </p:sp>
      <p:pic>
        <p:nvPicPr>
          <p:cNvPr id="102" name="나레이션 13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837"/>
      </p:ext>
    </p:extLst>
  </p:cSld>
  <p:clrMapOvr>
    <a:masterClrMapping/>
  </p:clrMapOvr>
  <p:transition spd="med" advClick="1" advTm="149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2600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F81A15-AD61-4B76-AAAA-AA8D40138E31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검사 결과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ED2AA93-96CD-4C56-9FA4-10DFBF944D05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의료적 진단 대신 이해하기 쉬운 안내를 제공합니다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B068C902-36FF-4496-B4C3-FDEE23FE4750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52891B8-1144-4312-96B1-BD34CEC8E881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1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64D9BAB-6652-4B22-AFD7-6D048A65ADBE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20431BE-933F-4AB3-AA36-532C2675B9E8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B8547B-F6D9-42A8-8B3F-DC6B5C396D75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안정적 · 관찰 필요 · 확인 필요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9D5722A-8CED-4836-B978-034B1F0DCFB0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53DFB0-E6C4-4373-8791-DCEF5598BBA3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RESULT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BA33EBB-FAF6-4482-9982-4CD752705F58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정성적인 결과 안내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852B1A-4070-4DFA-8466-C889842982BB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695DB48-1426-4AFC-84FD-D4023812117C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고령자 화면은 정확한 수치보다 결과 단계와 권장 행동을 중심으로 보여줍니다.</a:t>
            </a:r>
          </a:p>
        </p:txBody>
      </p:sp>
      <p:pic>
        <p:nvPicPr>
          <p:cNvPr id="102" name="나레이션 14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93933"/>
      </p:ext>
    </p:extLst>
  </p:cSld>
  <p:clrMapOvr>
    <a:masterClrMapping/>
  </p:clrMapOvr>
  <p:transition spd="med" advClick="1" advTm="8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416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7F4DF3C-B136-4720-8B37-54D944D101EF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AI 일기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A36EF0-5B38-424F-85D0-5CA113958DB1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문답 요약을 하루의 기록으로 정리합니다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098F105-C35A-4A1B-951D-A322E4DAA76E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06399CE-A24E-41E1-96C9-AB6F4A491E64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1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4722628-4C76-4CF4-A69F-06A0B67B82CE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AD9AEE4-2FEE-4D53-950A-60357B464C63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D710C8-362E-4777-A9FC-80B8FC056FB7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문답 요약 · 일기 본문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D8F9070-88E4-42C6-9DED-FA947905CA7F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BC6997-8487-4F9F-AA17-640212579431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DIARY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E7EF14-5B35-48A7-942F-5B0DE4921C2F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대화가 일상 기록으로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3B25BE-0223-4F43-8E08-19F7337246BA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2644BD-FFB1-47EE-BBC2-0A1DCB6FFBFD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문답의 STT 전사와 요약을 이용해 하루의 일기를 생성합니다.</a:t>
            </a:r>
          </a:p>
        </p:txBody>
      </p:sp>
      <p:pic>
        <p:nvPicPr>
          <p:cNvPr id="102" name="나레이션 15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33434"/>
      </p:ext>
    </p:extLst>
  </p:cSld>
  <p:clrMapOvr>
    <a:masterClrMapping/>
  </p:clrMapOvr>
  <p:transition spd="med" advClick="1" advTm="996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67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840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10335A3-78B8-43BE-9F30-1141BC7511A8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인지 게임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D49604-E54A-4B60-A465-123CB73E6079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짧은 게임으로 활동을 자연스럽게 이어갑니다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16A1A0E-1914-4FE6-B040-54D9E7136275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BD21F52-EBB3-4863-9B45-57A7E7A7BEFC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1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825D508-B4EB-46D7-B87A-56CC2848D8A5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F1107F4-013D-4EEA-BD25-A5C6413CE29F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412CE2-D1A6-4C38-82E8-52D6BDF73FFF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카드 · 색깔 · 초성 게임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4C502CF4-0EA3-4A4A-9D83-810BB9A0AAE3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BD1E31-A59F-4915-8FC0-E6F9735A1946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GAME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2F2BE4-8A59-42C1-A368-3C70C9BFF572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부담이 적은 인지 활동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4FBF4B2-80A4-487E-AFC4-747212C09D1D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02C284B-3EC8-42CF-846B-0B6A886CF492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대표 게임을 수행하면 결과가 저장되고 경험치 보상으로 연결됩니다.</a:t>
            </a:r>
          </a:p>
        </p:txBody>
      </p:sp>
      <p:pic>
        <p:nvPicPr>
          <p:cNvPr id="102" name="나레이션 17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59828"/>
      </p:ext>
    </p:extLst>
  </p:cSld>
  <p:clrMapOvr>
    <a:masterClrMapping/>
  </p:clrMapOvr>
  <p:transition spd="med" advClick="1" advTm="15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568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E07F270-2118-4236-922A-8700103A6DFF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경험치 획득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32ED2A-D409-4D30-BE97-CF6AA62CFF9E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검사와 활동 결과를 중복 없이 경험치로 반영합니다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B3F762EE-9B87-4F4A-8C53-D453F21AE731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5B4D081-BF69-4514-8C09-DBD3B0751C57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1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3F9586D-BCFD-4EA5-92A9-1D9374C52F24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54779EF-9C73-48BD-BE40-981ED3756C73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A10824-BBB5-435C-8E9F-A55435D936B6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활동 완료 · XP 적립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41D31BEC-6786-48F8-A134-F87550CC0E8B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92F198-9929-43AB-A40E-8091BC0725C1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XP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AB600A-AA16-4625-BBE7-EBF289195ABC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지속적인 참여를 위한 보상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9277DF-983F-402D-8B4C-C9E7803B9D47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271A2A-2263-4B7C-A7F1-347B29462148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문답과 게임 완료 이벤트가 경험치로 기록되어 팥이의 성장에 반영됩니다.</a:t>
            </a:r>
          </a:p>
        </p:txBody>
      </p:sp>
      <p:pic>
        <p:nvPicPr>
          <p:cNvPr id="102" name="나레이션 18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12483"/>
      </p:ext>
    </p:extLst>
  </p:cSld>
  <p:clrMapOvr>
    <a:masterClrMapping/>
  </p:clrMapOvr>
  <p:transition spd="med" advClick="1" advTm="109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5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288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91C3C09-36F7-4EF2-8A3F-C15EBDDF3C2D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팥이 성장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718A3D-8A9F-44B9-8B96-5ED8C345C3BE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누적 활동이 캐릭터의 변화로 이어집니다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370ADD50-483D-4096-88CC-114F1FFDB2C3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0D354B5-64B3-4AAE-9936-B53531FB382A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1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5E7AEB9-7B1E-40D1-A7CF-7424B4D55821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D655966-D8C5-435B-958B-E31C23B9E3D4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F99FC0-DA27-4870-BDF8-158DB54F34F8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레벨 · 경험치 · 외형 변화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824CDB1-0A89-4154-86B1-AFA28EDD21E5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C479E9-0F4F-4143-AE53-6C5C6D62EFAA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CHARACTER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C66105-749D-4467-A37C-F744358632BD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사용자와 함께 성장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0CF0756-328E-4E32-8339-64EA0E85D0BC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941A64-0CE7-44C2-A6AD-425C20377F45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꾸준한 활동을 시각적인 성장으로 보여주어 서비스 이용 동기를 높입니다.</a:t>
            </a:r>
          </a:p>
        </p:txBody>
      </p:sp>
      <p:pic>
        <p:nvPicPr>
          <p:cNvPr id="102" name="나레이션 19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47487"/>
      </p:ext>
    </p:extLst>
  </p:cSld>
  <p:clrMapOvr>
    <a:masterClrMapping/>
  </p:clrMapOvr>
  <p:transition spd="med" advClick="1" advTm="637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976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8974BF8-7B00-426A-8800-C919F688A76E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보호자 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B0C484-9638-4268-B6DA-546B03772A59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여러 사용자 중 확인할 대상을 선택합니다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9A69181-CAF0-4F9E-A77A-7A9EF5B311B6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19265CF-A0A2-410D-95F4-565AB16AEFDB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2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3B64E0F-6981-4C9D-A888-7B53F10A80A9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DA4E21E-B27C-437A-A603-5E753D4DD02C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A3D54F-F6C3-4BAA-9F0C-3AF44C9453F6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연결 사용자 · 주요 지표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E197524-086C-46DA-B634-C7795FE2DFE5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664B16-50D2-44CC-B008-765774DC2144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GUARDIAN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FCCAF3-CB92-45D2-851A-A01C910C8326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동의된 범위에서 확인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566191-56A6-44BF-9BF4-E3E666FF2594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BD6DAB-BC70-4A5E-A43B-4944A9A41D8D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보호자는 연결된 사용자를 선택하고 주요 활동과 결과 요약을 확인합니다.</a:t>
            </a:r>
          </a:p>
        </p:txBody>
      </p:sp>
      <p:pic>
        <p:nvPicPr>
          <p:cNvPr id="102" name="나레이션 20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040778"/>
      </p:ext>
    </p:extLst>
  </p:cSld>
  <p:clrMapOvr>
    <a:masterClrMapping/>
  </p:clrMapOvr>
  <p:transition spd="med" advClick="1" advTm="119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792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B085374-DD24-4275-BC56-49857DF49396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검사 결과와 변화 추이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3F5CAC-B635-4332-BAD4-843FEE67E2EE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한 번의 점수보다 최근 변화 흐름을 보여줍니다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672BD2B-BFC4-4AC5-AAEA-231D297CE9B9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5053BCD-D990-4895-847A-5F98D9B5B83A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2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7308109-E359-451A-B7E8-2ADB19EEB85A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1DBB50D-86BD-4F83-9D14-EDA831B483C5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D5D116-3846-45A5-B55A-39E509BBAA03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30일 이력 · 점수 그래프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F22D924-F4BB-4380-8C88-19069CE60E58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539E0B-C5A9-4FB8-AF14-31C72C23655A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TREND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2BCFD8-DF8A-472A-880E-4CB3ABDB9BDE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반복 검사 결과 비교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9BBA12-D726-41B0-AF68-0C0286339761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664CC3-8974-4F0D-819B-D568C066F1F8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최근 검사 이력과 변화 추이를 그래프로 확인해 지속적인 관찰을 지원합니다.</a:t>
            </a:r>
          </a:p>
        </p:txBody>
      </p:sp>
      <p:pic>
        <p:nvPicPr>
          <p:cNvPr id="102" name="나레이션 21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04626"/>
      </p:ext>
    </p:extLst>
  </p:cSld>
  <p:clrMapOvr>
    <a:masterClrMapping/>
  </p:clrMapOvr>
  <p:transition spd="med" advClick="1" advTm="11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056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4C7E13E-2132-4A74-A109-24B5B4BE5344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위험 알림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A271DA-056A-435A-84AB-75AAE48ADB3E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상태 변화가 감지되면 보호자에게 알립니다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7B2372F-EF34-45FA-BFF9-370F2CA4545F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06DF991-6DDD-4E31-8635-E14DECB19833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2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E189962-2BAA-4FAB-A7F3-F796C5FC1779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9436426-122A-4539-BB22-50E26EF1A091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47DC41-4CC5-472B-992A-60FC8EEFF72D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인지 점수 하락 · 결과 완료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C30FB86-265E-4F2B-8651-D52D61F2AF15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ABB6392-9039-4E69-9826-B2DE65D4A5CF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ALERT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C2D9E4-FA92-4C88-A300-0CF8F9C7A74D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필요한 순간에 확인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8BB4A8-EE01-4EA4-B3D6-0C1C7522FF22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6593C72-243B-4EC7-9B40-C687A99E60DC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검사 완료와 위험 변화 같은 주요 이벤트를 알림으로 전달합니다.</a:t>
            </a:r>
          </a:p>
        </p:txBody>
      </p:sp>
      <p:pic>
        <p:nvPicPr>
          <p:cNvPr id="102" name="나레이션 22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27971"/>
      </p:ext>
    </p:extLst>
  </p:cSld>
  <p:clrMapOvr>
    <a:masterClrMapping/>
  </p:clrMapOvr>
  <p:transition spd="med" advClick="1" advTm="10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304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CEA0CDB-C7D7-4A1C-829D-E7217283C38D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상담센터 조회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F2DE1C-633F-44CC-9824-5245070BD277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지역별 치매안심센터와 의료기관 정보를 확인합니다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9B5D3C98-D97F-457F-8E3E-B05AE7D2DF4C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0CE9423-D91B-4575-95DD-F8C6577B912F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2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1909594B-3CEB-45CF-BE61-BE8AB82AF6FB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EB7AF5F-98F5-4A62-BD35-475F676ED7B6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0048C3-868B-44C1-AD7E-B8955868FEA1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지역 검색 · 지도 · 기관 링크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0C95202-B6A8-457E-9B91-1B1E3AC823FD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CEFC0F-55C2-418C-9D1D-210D8BDB0D14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CENTER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E1F63E-415E-4B30-AF5E-2F2D9130A130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주변 지원 기관 연결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DF98015-7BFA-470D-8574-79B140CEBD3C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FB258A-5830-4479-8EB5-183B7C7918E6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지역과 기관 유형을 기준으로 센터를 찾고 지도나 홈페이지로 이동할 수 있습니다.</a:t>
            </a:r>
          </a:p>
        </p:txBody>
      </p:sp>
      <p:pic>
        <p:nvPicPr>
          <p:cNvPr id="102" name="나레이션 23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10221"/>
      </p:ext>
    </p:extLst>
  </p:cSld>
  <p:clrMapOvr>
    <a:masterClrMapping/>
  </p:clrMapOvr>
  <p:transition spd="med" advClick="1" advTm="119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032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4F6404-1C38-4E33-85ED-F04D2D1805E6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알림 모아보기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FCED16-1E61-453E-B675-3972D61231CB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검사와 일기, 활동 관련 알림을 한곳에서 확인합니다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9EECAA7-3320-4EB4-A839-DFC12AEB8A65}"/>
              </a:ext>
            </a:extLst>
          </p:cNvPr>
          <p:cNvSpPr>
            <a:spLocks noGrp="1"/>
          </p:cNvSpPr>
          <p:nvPr/>
        </p:nvSpPr>
        <p:spPr>
          <a:xfrm>
            <a:off x="6930415" y="75150"/>
            <a:ext cx="3273540" cy="6629700"/>
          </a:xfrm>
          <a:prstGeom prst="roundRect">
            <a:avLst>
              <a:gd name="adj" fmla="val 5882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02B4BC1-DE53-4B04-9FB8-BADD937A1404}"/>
              </a:ext>
            </a:extLst>
          </p:cNvPr>
          <p:cNvSpPr>
            <a:spLocks noGrp="1"/>
          </p:cNvSpPr>
          <p:nvPr/>
        </p:nvSpPr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solidFill>
            <a:srgbClr val="F4F8F4"/>
          </a:solidFill>
          <a:ln w="14288">
            <a:solidFill>
              <a:srgbClr val="F4F8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시연 영상 2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4224" y="212706"/>
            <a:ext cx="3026448" cy="6355549"/>
          </a:xfrm>
          <a:prstGeom prst="roundRect">
            <a:avLst>
              <a:gd name="adj" fmla="val 6364"/>
            </a:avLst>
          </a:prstGeom>
          <a:ln>
            <a:noFill/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AF12D94-FA0F-4F8E-9099-F7185A2131AB}"/>
              </a:ext>
            </a:extLst>
          </p:cNvPr>
          <p:cNvSpPr>
            <a:spLocks noGrp="1"/>
          </p:cNvSpPr>
          <p:nvPr/>
        </p:nvSpPr>
        <p:spPr>
          <a:xfrm>
            <a:off x="7945377" y="281500"/>
            <a:ext cx="1244146" cy="192592"/>
          </a:xfrm>
          <a:prstGeom prst="roundRect">
            <a:avLst>
              <a:gd name="adj" fmla="val 50000"/>
            </a:avLst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DCFFDF6-A43D-4E41-84BA-833991016F03}"/>
              </a:ext>
            </a:extLst>
          </p:cNvPr>
          <p:cNvSpPr>
            <a:spLocks noGrp="1"/>
          </p:cNvSpPr>
          <p:nvPr/>
        </p:nvSpPr>
        <p:spPr>
          <a:xfrm>
            <a:off x="9385968" y="322769"/>
            <a:ext cx="110053" cy="110053"/>
          </a:xfrm>
          <a:prstGeom prst="ellipse">
            <a:avLst/>
          </a:prstGeom>
          <a:solidFill>
            <a:srgbClr val="111714"/>
          </a:solidFill>
          <a:ln w="14288">
            <a:solidFill>
              <a:srgbClr val="11171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39874F-BFF5-4DAE-BEA4-2FF3477C361C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미읽음 · 읽음 처리 · 화면 이동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111C7C7-2387-430E-B2F2-136935C9BB4D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BF633C-1FCC-440B-A4A2-C2697FF2BBDC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NOTIFICATION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5656B4-4F4F-4DA8-915C-03E9ADF672EC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활동 흐름을 놓치지 않도록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76F591-A91C-4BBA-9296-6ABDD1CB263F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7622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522108-072D-449E-A7D9-01CF0002EEAC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알림을 확인하고 관련 검사 결과나 기록 화면으로 바로 이동합니다.</a:t>
            </a:r>
          </a:p>
        </p:txBody>
      </p:sp>
      <p:pic>
        <p:nvPicPr>
          <p:cNvPr id="102" name="나레이션 24">
            <a:hlinkClick r:id="" action="ppaction://media"/>
          </p:cNvPr>
          <p:cNvPicPr>
            <a:picLocks noChangeAspect="1"/>
          </p:cNvPicPr>
          <p:nvPr>
            <a:audioFile r:link="rIdAud"/>
            <p:extLst>
              <p:ext uri="{DAA4B4D4-6D71-4841-9C94-3DE7FCFB9230}">
                <p14:media xmlns:p14="http://schemas.microsoft.com/office/powerpoint/2010/main" r:embed="rIdAMed"/>
              </p:ext>
            </p:extLst>
          </p:nvPr>
        </p:nvPicPr>
        <p:blipFill>
          <a:blip r:embed="rIdAImg"/>
          <a:stretch>
            <a:fillRect/>
          </a:stretch>
        </p:blipFill>
        <p:spPr>
          <a:xfrm>
            <a:off x="304800" y="6324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427"/>
      </p:ext>
    </p:extLst>
  </p:cSld>
  <p:clrMapOvr>
    <a:masterClrMapping/>
  </p:clrMapOvr>
  <p:transition spd="med" advClick="1" advTm="14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00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592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77140A9-3DC6-42BD-AC5B-705C14524B49}"/>
              </a:ext>
            </a:extLst>
          </p:cNvPr>
          <p:cNvSpPr>
            <a:spLocks noGrp="1"/>
          </p:cNvSpPr>
          <p:nvPr/>
        </p:nvSpPr>
        <p:spPr>
          <a:xfrm>
            <a:off x="742950" y="6477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AI MODEL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5D5F70-9D76-40EC-80AF-6FFD44F5946B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95325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3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늘봄은 음성과 문항별 수행 결과를</a:t>
            </a:r>
          </a:p>
          <a:p>
            <a:pPr algn="l">
              <a:defRPr sz="33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어떻게 분석했을까요?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126BE8-D4B3-4FB4-AFB3-264E1CCBBB29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667000" cy="4762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05A851-DD3C-4560-A309-879D4891D11C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5905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STT부터 단일 모델과 Fusion 평가까지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9E9BF6-0B75-4CAF-8187-254AB0229754}"/>
              </a:ext>
            </a:extLst>
          </p:cNvPr>
          <p:cNvSpPr>
            <a:spLocks noGrp="1"/>
          </p:cNvSpPr>
          <p:nvPr/>
        </p:nvSpPr>
        <p:spPr>
          <a:xfrm>
            <a:off x="8143875" y="2428875"/>
            <a:ext cx="66675" cy="7620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3F9E71E-4947-4450-B64B-40E5E4C9F7E7}"/>
              </a:ext>
            </a:extLst>
          </p:cNvPr>
          <p:cNvSpPr>
            <a:spLocks noGrp="1"/>
          </p:cNvSpPr>
          <p:nvPr/>
        </p:nvSpPr>
        <p:spPr>
          <a:xfrm>
            <a:off x="8315325" y="2324100"/>
            <a:ext cx="66675" cy="10287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9B3B09-2035-433C-B29D-3435A8F614C0}"/>
              </a:ext>
            </a:extLst>
          </p:cNvPr>
          <p:cNvSpPr>
            <a:spLocks noGrp="1"/>
          </p:cNvSpPr>
          <p:nvPr/>
        </p:nvSpPr>
        <p:spPr>
          <a:xfrm>
            <a:off x="8486775" y="2219325"/>
            <a:ext cx="66675" cy="12954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F07994-3040-4ED4-AF73-DCFB7112C3A4}"/>
              </a:ext>
            </a:extLst>
          </p:cNvPr>
          <p:cNvSpPr>
            <a:spLocks noGrp="1"/>
          </p:cNvSpPr>
          <p:nvPr/>
        </p:nvSpPr>
        <p:spPr>
          <a:xfrm>
            <a:off x="8658225" y="2114550"/>
            <a:ext cx="66675" cy="15621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A06031-5C6D-414A-B4B2-5EE94AB26231}"/>
              </a:ext>
            </a:extLst>
          </p:cNvPr>
          <p:cNvSpPr>
            <a:spLocks noGrp="1"/>
          </p:cNvSpPr>
          <p:nvPr/>
        </p:nvSpPr>
        <p:spPr>
          <a:xfrm>
            <a:off x="8829675" y="2009775"/>
            <a:ext cx="66675" cy="7620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B68E90-4850-4184-BBD6-6244DFF83A35}"/>
              </a:ext>
            </a:extLst>
          </p:cNvPr>
          <p:cNvSpPr>
            <a:spLocks noGrp="1"/>
          </p:cNvSpPr>
          <p:nvPr/>
        </p:nvSpPr>
        <p:spPr>
          <a:xfrm>
            <a:off x="9001125" y="2428875"/>
            <a:ext cx="66675" cy="10287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AA0A71-7060-49A6-A0EF-3DC470F50C93}"/>
              </a:ext>
            </a:extLst>
          </p:cNvPr>
          <p:cNvSpPr>
            <a:spLocks noGrp="1"/>
          </p:cNvSpPr>
          <p:nvPr/>
        </p:nvSpPr>
        <p:spPr>
          <a:xfrm>
            <a:off x="9172575" y="2324100"/>
            <a:ext cx="66675" cy="12954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F5F4DA-6062-4027-9027-BC0C230F8DA2}"/>
              </a:ext>
            </a:extLst>
          </p:cNvPr>
          <p:cNvSpPr>
            <a:spLocks noGrp="1"/>
          </p:cNvSpPr>
          <p:nvPr/>
        </p:nvSpPr>
        <p:spPr>
          <a:xfrm>
            <a:off x="9344025" y="2219325"/>
            <a:ext cx="66675" cy="1562100"/>
          </a:xfrm>
          <a:prstGeom prst="rect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F75282-ADE3-46E6-983E-1F9C986AEF27}"/>
              </a:ext>
            </a:extLst>
          </p:cNvPr>
          <p:cNvSpPr>
            <a:spLocks noGrp="1"/>
          </p:cNvSpPr>
          <p:nvPr/>
        </p:nvSpPr>
        <p:spPr>
          <a:xfrm>
            <a:off x="9515475" y="2114550"/>
            <a:ext cx="66675" cy="7620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1A0E53-40E8-4D92-B1E7-C3D3743F0DB0}"/>
              </a:ext>
            </a:extLst>
          </p:cNvPr>
          <p:cNvSpPr>
            <a:spLocks noGrp="1"/>
          </p:cNvSpPr>
          <p:nvPr/>
        </p:nvSpPr>
        <p:spPr>
          <a:xfrm>
            <a:off x="9686925" y="2009775"/>
            <a:ext cx="66675" cy="10287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9B189AE-35CE-4132-910E-4AB452FF86F3}"/>
              </a:ext>
            </a:extLst>
          </p:cNvPr>
          <p:cNvSpPr>
            <a:spLocks noGrp="1"/>
          </p:cNvSpPr>
          <p:nvPr/>
        </p:nvSpPr>
        <p:spPr>
          <a:xfrm>
            <a:off x="9858375" y="2428875"/>
            <a:ext cx="66675" cy="12954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7824E6-0B25-49E7-A87D-DBC9F9CDF519}"/>
              </a:ext>
            </a:extLst>
          </p:cNvPr>
          <p:cNvSpPr>
            <a:spLocks noGrp="1"/>
          </p:cNvSpPr>
          <p:nvPr/>
        </p:nvSpPr>
        <p:spPr>
          <a:xfrm>
            <a:off x="10029825" y="2324100"/>
            <a:ext cx="66675" cy="15621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B0F060-0963-4D7D-8016-750EFA069FF7}"/>
              </a:ext>
            </a:extLst>
          </p:cNvPr>
          <p:cNvSpPr>
            <a:spLocks noGrp="1"/>
          </p:cNvSpPr>
          <p:nvPr/>
        </p:nvSpPr>
        <p:spPr>
          <a:xfrm>
            <a:off x="10201275" y="2219325"/>
            <a:ext cx="66675" cy="7620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0949CD-093C-4A1A-8CDD-1F8E482F853A}"/>
              </a:ext>
            </a:extLst>
          </p:cNvPr>
          <p:cNvSpPr>
            <a:spLocks noGrp="1"/>
          </p:cNvSpPr>
          <p:nvPr/>
        </p:nvSpPr>
        <p:spPr>
          <a:xfrm>
            <a:off x="10372725" y="2114550"/>
            <a:ext cx="66675" cy="10287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C3DCBFB-843D-436E-8EE2-1A68E18CC0C5}"/>
              </a:ext>
            </a:extLst>
          </p:cNvPr>
          <p:cNvSpPr>
            <a:spLocks noGrp="1"/>
          </p:cNvSpPr>
          <p:nvPr/>
        </p:nvSpPr>
        <p:spPr>
          <a:xfrm>
            <a:off x="10544175" y="2009775"/>
            <a:ext cx="66675" cy="12954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8E3A9C2-7AB7-473C-8632-4B574400391B}"/>
              </a:ext>
            </a:extLst>
          </p:cNvPr>
          <p:cNvSpPr>
            <a:spLocks noGrp="1"/>
          </p:cNvSpPr>
          <p:nvPr/>
        </p:nvSpPr>
        <p:spPr>
          <a:xfrm>
            <a:off x="10715625" y="2428875"/>
            <a:ext cx="66675" cy="15621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308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16079B26-2DAC-4816-A631-AFECC4F5A032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10CFEE-4D23-4BDA-B92C-2B9D258198F1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AI PIPELINE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06C1D11-E76D-475B-9FDC-51A44517AA61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588A13-AECC-4F77-AE45-120754160F7D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940FC9-3142-4E0B-BBE0-01C3AC1EB8E5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음성 분석 파이프라인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85422FC-4343-4663-AD02-2643BED54921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619250" cy="1619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CE7AA9-69E5-4B72-B2A8-466068C5E2E9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13906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 algn="ctr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사용자 음성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6B711B-43B0-464B-B3A3-D12C9ED31C2A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문항별 녹음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CC6013-9271-48EC-B5A8-5237140546D6}"/>
              </a:ext>
            </a:extLst>
          </p:cNvPr>
          <p:cNvSpPr>
            <a:spLocks noGrp="1"/>
          </p:cNvSpPr>
          <p:nvPr/>
        </p:nvSpPr>
        <p:spPr>
          <a:xfrm>
            <a:off x="2476500" y="3143250"/>
            <a:ext cx="809625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195829D-982E-4310-89D5-55E3D869D014}"/>
              </a:ext>
            </a:extLst>
          </p:cNvPr>
          <p:cNvSpPr>
            <a:spLocks noGrp="1"/>
          </p:cNvSpPr>
          <p:nvPr/>
        </p:nvSpPr>
        <p:spPr>
          <a:xfrm>
            <a:off x="3228975" y="310515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E742F5C-3A9B-42E8-B6D1-3CEE8AC502A4}"/>
              </a:ext>
            </a:extLst>
          </p:cNvPr>
          <p:cNvSpPr>
            <a:spLocks noGrp="1"/>
          </p:cNvSpPr>
          <p:nvPr/>
        </p:nvSpPr>
        <p:spPr>
          <a:xfrm>
            <a:off x="3524250" y="2333625"/>
            <a:ext cx="1619250" cy="1619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19F0E7-1B3A-46C5-9363-375F81B003EC}"/>
              </a:ext>
            </a:extLst>
          </p:cNvPr>
          <p:cNvSpPr>
            <a:spLocks noGrp="1"/>
          </p:cNvSpPr>
          <p:nvPr/>
        </p:nvSpPr>
        <p:spPr>
          <a:xfrm>
            <a:off x="3638550" y="2781300"/>
            <a:ext cx="13906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 algn="ctr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Chirp 3 STT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ED72BF-9AEE-4D36-ABC1-183E478350F8}"/>
              </a:ext>
            </a:extLst>
          </p:cNvPr>
          <p:cNvSpPr>
            <a:spLocks noGrp="1"/>
          </p:cNvSpPr>
          <p:nvPr/>
        </p:nvSpPr>
        <p:spPr>
          <a:xfrm>
            <a:off x="3638550" y="321945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한국어 전사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6403C2-8871-4684-8FB0-12F60C09BA30}"/>
              </a:ext>
            </a:extLst>
          </p:cNvPr>
          <p:cNvSpPr>
            <a:spLocks noGrp="1"/>
          </p:cNvSpPr>
          <p:nvPr/>
        </p:nvSpPr>
        <p:spPr>
          <a:xfrm>
            <a:off x="5238750" y="3143250"/>
            <a:ext cx="809625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7541D9F-6668-4D3E-9633-274CC434A36B}"/>
              </a:ext>
            </a:extLst>
          </p:cNvPr>
          <p:cNvSpPr>
            <a:spLocks noGrp="1"/>
          </p:cNvSpPr>
          <p:nvPr/>
        </p:nvSpPr>
        <p:spPr>
          <a:xfrm>
            <a:off x="5991225" y="310515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DAC60CA-9B39-4480-BEFA-FAA131DCF23B}"/>
              </a:ext>
            </a:extLst>
          </p:cNvPr>
          <p:cNvSpPr>
            <a:spLocks noGrp="1"/>
          </p:cNvSpPr>
          <p:nvPr/>
        </p:nvSpPr>
        <p:spPr>
          <a:xfrm>
            <a:off x="6286500" y="2333625"/>
            <a:ext cx="1619250" cy="1619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13B271-4E60-4EC2-9C4B-74AD76C10D0A}"/>
              </a:ext>
            </a:extLst>
          </p:cNvPr>
          <p:cNvSpPr>
            <a:spLocks noGrp="1"/>
          </p:cNvSpPr>
          <p:nvPr/>
        </p:nvSpPr>
        <p:spPr>
          <a:xfrm>
            <a:off x="6400800" y="2781300"/>
            <a:ext cx="13906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 algn="ctr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특징 생성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9F0ED2-54F0-4422-8153-AD1AE7ED7502}"/>
              </a:ext>
            </a:extLst>
          </p:cNvPr>
          <p:cNvSpPr>
            <a:spLocks noGrp="1"/>
          </p:cNvSpPr>
          <p:nvPr/>
        </p:nvSpPr>
        <p:spPr>
          <a:xfrm>
            <a:off x="6400800" y="321945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음향 · 언어 · 수행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265BC82-7189-48A8-9C93-E2156964D11B}"/>
              </a:ext>
            </a:extLst>
          </p:cNvPr>
          <p:cNvSpPr>
            <a:spLocks noGrp="1"/>
          </p:cNvSpPr>
          <p:nvPr/>
        </p:nvSpPr>
        <p:spPr>
          <a:xfrm>
            <a:off x="8001000" y="3143250"/>
            <a:ext cx="809625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5D3FC5D-E961-4E19-89E5-C7B9C3778CBB}"/>
              </a:ext>
            </a:extLst>
          </p:cNvPr>
          <p:cNvSpPr>
            <a:spLocks noGrp="1"/>
          </p:cNvSpPr>
          <p:nvPr/>
        </p:nvSpPr>
        <p:spPr>
          <a:xfrm>
            <a:off x="8753475" y="310515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FE6D31B9-B771-4C8C-9876-20E0C36A08C8}"/>
              </a:ext>
            </a:extLst>
          </p:cNvPr>
          <p:cNvSpPr>
            <a:spLocks noGrp="1"/>
          </p:cNvSpPr>
          <p:nvPr/>
        </p:nvSpPr>
        <p:spPr>
          <a:xfrm>
            <a:off x="9048750" y="2333625"/>
            <a:ext cx="1619250" cy="1619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D17DC88-E153-41CC-B422-08A9743D197C}"/>
              </a:ext>
            </a:extLst>
          </p:cNvPr>
          <p:cNvSpPr>
            <a:spLocks noGrp="1"/>
          </p:cNvSpPr>
          <p:nvPr/>
        </p:nvSpPr>
        <p:spPr>
          <a:xfrm>
            <a:off x="9163050" y="2781300"/>
            <a:ext cx="13906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Fusion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C61B80-7038-4273-B59F-F7A3E4E7F3FB}"/>
              </a:ext>
            </a:extLst>
          </p:cNvPr>
          <p:cNvSpPr>
            <a:spLocks noGrp="1"/>
          </p:cNvSpPr>
          <p:nvPr/>
        </p:nvSpPr>
        <p:spPr>
          <a:xfrm>
            <a:off x="9163050" y="321945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최종 위험 점수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673DD03-5946-4840-86B6-41EBB5A0CD95}"/>
              </a:ext>
            </a:extLst>
          </p:cNvPr>
          <p:cNvSpPr>
            <a:spLocks noGrp="1"/>
          </p:cNvSpPr>
          <p:nvPr/>
        </p:nvSpPr>
        <p:spPr>
          <a:xfrm>
            <a:off x="1666875" y="4829175"/>
            <a:ext cx="8858250" cy="742950"/>
          </a:xfrm>
          <a:prstGeom prst="roundRect">
            <a:avLst>
              <a:gd name="adj" fmla="val 11765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B159372-828B-4E63-9B8F-B7B3835BC948}"/>
              </a:ext>
            </a:extLst>
          </p:cNvPr>
          <p:cNvSpPr>
            <a:spLocks noGrp="1"/>
          </p:cNvSpPr>
          <p:nvPr/>
        </p:nvSpPr>
        <p:spPr>
          <a:xfrm>
            <a:off x="1809750" y="5048250"/>
            <a:ext cx="8572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음성</a:t>
            </a:r>
            <a:r>
              <a:rPr sz="1500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원본은</a:t>
            </a:r>
            <a:r>
              <a:rPr sz="1500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AST에</a:t>
            </a:r>
            <a:r>
              <a:rPr sz="1500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500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전사문은</a:t>
            </a:r>
            <a:r>
              <a:rPr sz="1500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KcELECTRA에</a:t>
            </a:r>
            <a:r>
              <a:rPr sz="1500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500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정답·오답과</a:t>
            </a:r>
            <a:r>
              <a:rPr sz="1500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응답</a:t>
            </a:r>
            <a:r>
              <a:rPr sz="1500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시간은</a:t>
            </a:r>
            <a:r>
              <a:rPr sz="1500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  <a:r>
              <a:rPr sz="1500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특징에</a:t>
            </a:r>
            <a:r>
              <a:rPr sz="1500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사용</a:t>
            </a:r>
            <a:endParaRPr sz="1500" b="1" dirty="0">
              <a:solidFill>
                <a:srgbClr val="1F5A3D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284549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52AD73A7-6B06-4A2F-98DE-D48034E3D6A1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AE9BD0-30D3-4870-AD99-1F15DFF1BD56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EVALUATION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052185-85F3-468D-B883-5C2EB62FA5B8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814C94-7E95-4900-A2FF-155FB2B59A1A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4E86BA-B41E-4D32-9A2C-2F95CFBA1453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대상자 단위 평가 설계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A0F13B8-EE89-408F-A679-860F48EFC4E1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같은 사람의 데이터가 학습과 평가에 섞이지 않도록 분리했습니다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873395-EF6E-4AA0-AD1E-45FFA4789F04}"/>
              </a:ext>
            </a:extLst>
          </p:cNvPr>
          <p:cNvSpPr>
            <a:spLocks noGrp="1"/>
          </p:cNvSpPr>
          <p:nvPr/>
        </p:nvSpPr>
        <p:spPr>
          <a:xfrm>
            <a:off x="1428750" y="2376487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전체 대상자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246774-84F3-4C61-89FA-3CB5081745D5}"/>
              </a:ext>
            </a:extLst>
          </p:cNvPr>
          <p:cNvSpPr>
            <a:spLocks noGrp="1"/>
          </p:cNvSpPr>
          <p:nvPr/>
        </p:nvSpPr>
        <p:spPr>
          <a:xfrm>
            <a:off x="1428750" y="2681287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21명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135CB1-04B6-4FF0-BC90-68B18BCE973B}"/>
              </a:ext>
            </a:extLst>
          </p:cNvPr>
          <p:cNvSpPr>
            <a:spLocks noGrp="1"/>
          </p:cNvSpPr>
          <p:nvPr/>
        </p:nvSpPr>
        <p:spPr>
          <a:xfrm>
            <a:off x="1428750" y="3471862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정상군 · 위험군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AD4583-A21A-4C4B-910C-15A1CC44791A}"/>
              </a:ext>
            </a:extLst>
          </p:cNvPr>
          <p:cNvSpPr>
            <a:spLocks noGrp="1"/>
          </p:cNvSpPr>
          <p:nvPr/>
        </p:nvSpPr>
        <p:spPr>
          <a:xfrm>
            <a:off x="1428750" y="3776662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11명 · 10명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599500-25B3-4C0B-B377-DE491B7D10C9}"/>
              </a:ext>
            </a:extLst>
          </p:cNvPr>
          <p:cNvSpPr>
            <a:spLocks noGrp="1"/>
          </p:cNvSpPr>
          <p:nvPr/>
        </p:nvSpPr>
        <p:spPr>
          <a:xfrm>
            <a:off x="1428750" y="4567237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데이터 분할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39159B-12D4-474D-B1F7-79AFF273F406}"/>
              </a:ext>
            </a:extLst>
          </p:cNvPr>
          <p:cNvSpPr>
            <a:spLocks noGrp="1"/>
          </p:cNvSpPr>
          <p:nvPr/>
        </p:nvSpPr>
        <p:spPr>
          <a:xfrm>
            <a:off x="1428750" y="4872037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7-fold OOF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1537C81-C4C2-4093-8CD8-9AB2F59D3296}"/>
              </a:ext>
            </a:extLst>
          </p:cNvPr>
          <p:cNvSpPr>
            <a:spLocks noGrp="1"/>
          </p:cNvSpPr>
          <p:nvPr/>
        </p:nvSpPr>
        <p:spPr>
          <a:xfrm>
            <a:off x="5295900" y="24003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C9EE3A-3F8F-46B0-A8C7-0369119F3000}"/>
              </a:ext>
            </a:extLst>
          </p:cNvPr>
          <p:cNvSpPr>
            <a:spLocks noGrp="1"/>
          </p:cNvSpPr>
          <p:nvPr/>
        </p:nvSpPr>
        <p:spPr>
          <a:xfrm>
            <a:off x="5295900" y="2505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875EDB9-3983-4BE1-BDDE-DD21A429437C}"/>
              </a:ext>
            </a:extLst>
          </p:cNvPr>
          <p:cNvSpPr>
            <a:spLocks noGrp="1"/>
          </p:cNvSpPr>
          <p:nvPr/>
        </p:nvSpPr>
        <p:spPr>
          <a:xfrm>
            <a:off x="6038850" y="24003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B1E983-70FC-402B-AB10-6E8B56D68CB0}"/>
              </a:ext>
            </a:extLst>
          </p:cNvPr>
          <p:cNvSpPr>
            <a:spLocks noGrp="1"/>
          </p:cNvSpPr>
          <p:nvPr/>
        </p:nvSpPr>
        <p:spPr>
          <a:xfrm>
            <a:off x="6038850" y="2505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2EA5B78-6A1A-458D-815A-03F92CAA5053}"/>
              </a:ext>
            </a:extLst>
          </p:cNvPr>
          <p:cNvSpPr>
            <a:spLocks noGrp="1"/>
          </p:cNvSpPr>
          <p:nvPr/>
        </p:nvSpPr>
        <p:spPr>
          <a:xfrm>
            <a:off x="6781800" y="24003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504749-6E50-4262-B298-047CC73FD947}"/>
              </a:ext>
            </a:extLst>
          </p:cNvPr>
          <p:cNvSpPr>
            <a:spLocks noGrp="1"/>
          </p:cNvSpPr>
          <p:nvPr/>
        </p:nvSpPr>
        <p:spPr>
          <a:xfrm>
            <a:off x="6781800" y="2505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D0F5074-8292-4CC9-8B79-3D7CC1BECF6C}"/>
              </a:ext>
            </a:extLst>
          </p:cNvPr>
          <p:cNvSpPr>
            <a:spLocks noGrp="1"/>
          </p:cNvSpPr>
          <p:nvPr/>
        </p:nvSpPr>
        <p:spPr>
          <a:xfrm>
            <a:off x="7524750" y="24003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8D5FED-ED62-4BCF-A544-C849334B036B}"/>
              </a:ext>
            </a:extLst>
          </p:cNvPr>
          <p:cNvSpPr>
            <a:spLocks noGrp="1"/>
          </p:cNvSpPr>
          <p:nvPr/>
        </p:nvSpPr>
        <p:spPr>
          <a:xfrm>
            <a:off x="7524750" y="2505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837399F-E243-4A4B-90B2-3006ECBBE633}"/>
              </a:ext>
            </a:extLst>
          </p:cNvPr>
          <p:cNvSpPr>
            <a:spLocks noGrp="1"/>
          </p:cNvSpPr>
          <p:nvPr/>
        </p:nvSpPr>
        <p:spPr>
          <a:xfrm>
            <a:off x="8267700" y="24003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38F005-392F-4618-9F8A-78C2BA4ED640}"/>
              </a:ext>
            </a:extLst>
          </p:cNvPr>
          <p:cNvSpPr>
            <a:spLocks noGrp="1"/>
          </p:cNvSpPr>
          <p:nvPr/>
        </p:nvSpPr>
        <p:spPr>
          <a:xfrm>
            <a:off x="8267700" y="2505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CA84A56-1A61-4298-9778-6A65088FA98D}"/>
              </a:ext>
            </a:extLst>
          </p:cNvPr>
          <p:cNvSpPr>
            <a:spLocks noGrp="1"/>
          </p:cNvSpPr>
          <p:nvPr/>
        </p:nvSpPr>
        <p:spPr>
          <a:xfrm>
            <a:off x="9010650" y="24003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9F48661-7BA7-496A-A770-FD6FBE415149}"/>
              </a:ext>
            </a:extLst>
          </p:cNvPr>
          <p:cNvSpPr>
            <a:spLocks noGrp="1"/>
          </p:cNvSpPr>
          <p:nvPr/>
        </p:nvSpPr>
        <p:spPr>
          <a:xfrm>
            <a:off x="9010650" y="2505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3970D9C-2F9A-4246-A4D7-879E2C3475D6}"/>
              </a:ext>
            </a:extLst>
          </p:cNvPr>
          <p:cNvSpPr>
            <a:spLocks noGrp="1"/>
          </p:cNvSpPr>
          <p:nvPr/>
        </p:nvSpPr>
        <p:spPr>
          <a:xfrm>
            <a:off x="9753600" y="24003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02F81F8-4A08-4AE3-A307-2CBB64E6247B}"/>
              </a:ext>
            </a:extLst>
          </p:cNvPr>
          <p:cNvSpPr>
            <a:spLocks noGrp="1"/>
          </p:cNvSpPr>
          <p:nvPr/>
        </p:nvSpPr>
        <p:spPr>
          <a:xfrm>
            <a:off x="9753600" y="2505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339283B-C29B-446F-8C91-1F9ED0A0AE1B}"/>
              </a:ext>
            </a:extLst>
          </p:cNvPr>
          <p:cNvSpPr>
            <a:spLocks noGrp="1"/>
          </p:cNvSpPr>
          <p:nvPr/>
        </p:nvSpPr>
        <p:spPr>
          <a:xfrm>
            <a:off x="5295900" y="31623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B8FCC35-3580-4A9A-961A-26E859D3A959}"/>
              </a:ext>
            </a:extLst>
          </p:cNvPr>
          <p:cNvSpPr>
            <a:spLocks noGrp="1"/>
          </p:cNvSpPr>
          <p:nvPr/>
        </p:nvSpPr>
        <p:spPr>
          <a:xfrm>
            <a:off x="5295900" y="3267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2FDB3BD-B4DC-4DDB-B026-49E33A25ECE4}"/>
              </a:ext>
            </a:extLst>
          </p:cNvPr>
          <p:cNvSpPr>
            <a:spLocks noGrp="1"/>
          </p:cNvSpPr>
          <p:nvPr/>
        </p:nvSpPr>
        <p:spPr>
          <a:xfrm>
            <a:off x="6038850" y="31623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90B22A9-96E8-4775-A1FF-5FEF43936AE1}"/>
              </a:ext>
            </a:extLst>
          </p:cNvPr>
          <p:cNvSpPr>
            <a:spLocks noGrp="1"/>
          </p:cNvSpPr>
          <p:nvPr/>
        </p:nvSpPr>
        <p:spPr>
          <a:xfrm>
            <a:off x="6038850" y="3267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DA95391-5505-4A57-B6C7-D5BD13F0A7B7}"/>
              </a:ext>
            </a:extLst>
          </p:cNvPr>
          <p:cNvSpPr>
            <a:spLocks noGrp="1"/>
          </p:cNvSpPr>
          <p:nvPr/>
        </p:nvSpPr>
        <p:spPr>
          <a:xfrm>
            <a:off x="6781800" y="31623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151503B-B48F-4859-93CF-C4B1FBAA7400}"/>
              </a:ext>
            </a:extLst>
          </p:cNvPr>
          <p:cNvSpPr>
            <a:spLocks noGrp="1"/>
          </p:cNvSpPr>
          <p:nvPr/>
        </p:nvSpPr>
        <p:spPr>
          <a:xfrm>
            <a:off x="6781800" y="3267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22F0AEB-DCEB-4F24-868A-6F926F23DC80}"/>
              </a:ext>
            </a:extLst>
          </p:cNvPr>
          <p:cNvSpPr>
            <a:spLocks noGrp="1"/>
          </p:cNvSpPr>
          <p:nvPr/>
        </p:nvSpPr>
        <p:spPr>
          <a:xfrm>
            <a:off x="7524750" y="31623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287BEC2-8388-4352-B688-D40E97D2EE30}"/>
              </a:ext>
            </a:extLst>
          </p:cNvPr>
          <p:cNvSpPr>
            <a:spLocks noGrp="1"/>
          </p:cNvSpPr>
          <p:nvPr/>
        </p:nvSpPr>
        <p:spPr>
          <a:xfrm>
            <a:off x="7524750" y="3267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DB61105-E45A-421E-A7F3-BD017D02B384}"/>
              </a:ext>
            </a:extLst>
          </p:cNvPr>
          <p:cNvSpPr>
            <a:spLocks noGrp="1"/>
          </p:cNvSpPr>
          <p:nvPr/>
        </p:nvSpPr>
        <p:spPr>
          <a:xfrm>
            <a:off x="8267700" y="3162300"/>
            <a:ext cx="438150" cy="438150"/>
          </a:xfrm>
          <a:prstGeom prst="ellipse">
            <a:avLst/>
          </a:prstGeom>
          <a:solidFill>
            <a:srgbClr val="DFF1E8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DA90EA3-A937-4395-A1D8-05BCD7243995}"/>
              </a:ext>
            </a:extLst>
          </p:cNvPr>
          <p:cNvSpPr>
            <a:spLocks noGrp="1"/>
          </p:cNvSpPr>
          <p:nvPr/>
        </p:nvSpPr>
        <p:spPr>
          <a:xfrm>
            <a:off x="8267700" y="3267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10161C3-BDE2-4EB0-A788-3F2EC562203F}"/>
              </a:ext>
            </a:extLst>
          </p:cNvPr>
          <p:cNvSpPr>
            <a:spLocks noGrp="1"/>
          </p:cNvSpPr>
          <p:nvPr/>
        </p:nvSpPr>
        <p:spPr>
          <a:xfrm>
            <a:off x="9010650" y="3162300"/>
            <a:ext cx="438150" cy="438150"/>
          </a:xfrm>
          <a:prstGeom prst="ellipse">
            <a:avLst/>
          </a:prstGeom>
          <a:solidFill>
            <a:srgbClr val="DFF1E8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032EB02-C8C4-42F1-971E-30344EF41340}"/>
              </a:ext>
            </a:extLst>
          </p:cNvPr>
          <p:cNvSpPr>
            <a:spLocks noGrp="1"/>
          </p:cNvSpPr>
          <p:nvPr/>
        </p:nvSpPr>
        <p:spPr>
          <a:xfrm>
            <a:off x="9010650" y="3267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20439B0-BFCA-4F47-95AB-8EB41246A7E5}"/>
              </a:ext>
            </a:extLst>
          </p:cNvPr>
          <p:cNvSpPr>
            <a:spLocks noGrp="1"/>
          </p:cNvSpPr>
          <p:nvPr/>
        </p:nvSpPr>
        <p:spPr>
          <a:xfrm>
            <a:off x="9753600" y="3162300"/>
            <a:ext cx="438150" cy="438150"/>
          </a:xfrm>
          <a:prstGeom prst="ellipse">
            <a:avLst/>
          </a:prstGeom>
          <a:solidFill>
            <a:srgbClr val="DFF1E8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149097C-BB1F-4EC6-B289-95BB0F49E69D}"/>
              </a:ext>
            </a:extLst>
          </p:cNvPr>
          <p:cNvSpPr>
            <a:spLocks noGrp="1"/>
          </p:cNvSpPr>
          <p:nvPr/>
        </p:nvSpPr>
        <p:spPr>
          <a:xfrm>
            <a:off x="9753600" y="3267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65565230-A388-43A8-A748-79EC3A2E4B34}"/>
              </a:ext>
            </a:extLst>
          </p:cNvPr>
          <p:cNvSpPr>
            <a:spLocks noGrp="1"/>
          </p:cNvSpPr>
          <p:nvPr/>
        </p:nvSpPr>
        <p:spPr>
          <a:xfrm>
            <a:off x="5295900" y="3924300"/>
            <a:ext cx="438150" cy="438150"/>
          </a:xfrm>
          <a:prstGeom prst="ellipse">
            <a:avLst/>
          </a:prstGeom>
          <a:solidFill>
            <a:srgbClr val="DFF1E8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91F85B2-0B65-48FD-9BCF-7846B83ABE45}"/>
              </a:ext>
            </a:extLst>
          </p:cNvPr>
          <p:cNvSpPr>
            <a:spLocks noGrp="1"/>
          </p:cNvSpPr>
          <p:nvPr/>
        </p:nvSpPr>
        <p:spPr>
          <a:xfrm>
            <a:off x="5295900" y="4029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74F9DC5-AD70-4B2C-B35C-B0DD6856A404}"/>
              </a:ext>
            </a:extLst>
          </p:cNvPr>
          <p:cNvSpPr>
            <a:spLocks noGrp="1"/>
          </p:cNvSpPr>
          <p:nvPr/>
        </p:nvSpPr>
        <p:spPr>
          <a:xfrm>
            <a:off x="6038850" y="3924300"/>
            <a:ext cx="438150" cy="438150"/>
          </a:xfrm>
          <a:prstGeom prst="ellipse">
            <a:avLst/>
          </a:prstGeom>
          <a:solidFill>
            <a:srgbClr val="DFF1E8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292454B-70C9-4FFD-AC53-CF26AF570373}"/>
              </a:ext>
            </a:extLst>
          </p:cNvPr>
          <p:cNvSpPr>
            <a:spLocks noGrp="1"/>
          </p:cNvSpPr>
          <p:nvPr/>
        </p:nvSpPr>
        <p:spPr>
          <a:xfrm>
            <a:off x="6038850" y="4029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F23F1B67-FEAC-4DBB-8C17-3407ED3781A1}"/>
              </a:ext>
            </a:extLst>
          </p:cNvPr>
          <p:cNvSpPr>
            <a:spLocks noGrp="1"/>
          </p:cNvSpPr>
          <p:nvPr/>
        </p:nvSpPr>
        <p:spPr>
          <a:xfrm>
            <a:off x="6781800" y="3924300"/>
            <a:ext cx="438150" cy="438150"/>
          </a:xfrm>
          <a:prstGeom prst="ellipse">
            <a:avLst/>
          </a:prstGeom>
          <a:solidFill>
            <a:srgbClr val="DFF1E8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603AE9F-4086-4E85-88A8-749C943B0F82}"/>
              </a:ext>
            </a:extLst>
          </p:cNvPr>
          <p:cNvSpPr>
            <a:spLocks noGrp="1"/>
          </p:cNvSpPr>
          <p:nvPr/>
        </p:nvSpPr>
        <p:spPr>
          <a:xfrm>
            <a:off x="6781800" y="4029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31BC698-4E6E-43C7-998D-ED0E89938D9F}"/>
              </a:ext>
            </a:extLst>
          </p:cNvPr>
          <p:cNvSpPr>
            <a:spLocks noGrp="1"/>
          </p:cNvSpPr>
          <p:nvPr/>
        </p:nvSpPr>
        <p:spPr>
          <a:xfrm>
            <a:off x="7524750" y="3924300"/>
            <a:ext cx="438150" cy="438150"/>
          </a:xfrm>
          <a:prstGeom prst="ellipse">
            <a:avLst/>
          </a:prstGeom>
          <a:solidFill>
            <a:srgbClr val="DFF1E8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1088E37-6192-407D-B09E-12B722A6447E}"/>
              </a:ext>
            </a:extLst>
          </p:cNvPr>
          <p:cNvSpPr>
            <a:spLocks noGrp="1"/>
          </p:cNvSpPr>
          <p:nvPr/>
        </p:nvSpPr>
        <p:spPr>
          <a:xfrm>
            <a:off x="7524750" y="4029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03DED7D-14D8-47DC-88B8-9B2973976146}"/>
              </a:ext>
            </a:extLst>
          </p:cNvPr>
          <p:cNvSpPr>
            <a:spLocks noGrp="1"/>
          </p:cNvSpPr>
          <p:nvPr/>
        </p:nvSpPr>
        <p:spPr>
          <a:xfrm>
            <a:off x="8267700" y="3924300"/>
            <a:ext cx="438150" cy="438150"/>
          </a:xfrm>
          <a:prstGeom prst="ellipse">
            <a:avLst/>
          </a:prstGeom>
          <a:solidFill>
            <a:srgbClr val="DFF1E8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F8B4290-B364-4F18-9CAA-F17E5B555685}"/>
              </a:ext>
            </a:extLst>
          </p:cNvPr>
          <p:cNvSpPr>
            <a:spLocks noGrp="1"/>
          </p:cNvSpPr>
          <p:nvPr/>
        </p:nvSpPr>
        <p:spPr>
          <a:xfrm>
            <a:off x="8267700" y="4029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7A94361F-FF6C-4825-922B-BE2ED1FF0796}"/>
              </a:ext>
            </a:extLst>
          </p:cNvPr>
          <p:cNvSpPr>
            <a:spLocks noGrp="1"/>
          </p:cNvSpPr>
          <p:nvPr/>
        </p:nvSpPr>
        <p:spPr>
          <a:xfrm>
            <a:off x="9010650" y="3924300"/>
            <a:ext cx="438150" cy="438150"/>
          </a:xfrm>
          <a:prstGeom prst="ellipse">
            <a:avLst/>
          </a:prstGeom>
          <a:solidFill>
            <a:srgbClr val="DFF1E8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8CD0860-87B0-4E97-BAC6-F368C4E31091}"/>
              </a:ext>
            </a:extLst>
          </p:cNvPr>
          <p:cNvSpPr>
            <a:spLocks noGrp="1"/>
          </p:cNvSpPr>
          <p:nvPr/>
        </p:nvSpPr>
        <p:spPr>
          <a:xfrm>
            <a:off x="9010650" y="4029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4866A06A-49B7-4FD2-94F2-8FB3AAEBFCB4}"/>
              </a:ext>
            </a:extLst>
          </p:cNvPr>
          <p:cNvSpPr>
            <a:spLocks noGrp="1"/>
          </p:cNvSpPr>
          <p:nvPr/>
        </p:nvSpPr>
        <p:spPr>
          <a:xfrm>
            <a:off x="9753600" y="3924300"/>
            <a:ext cx="438150" cy="438150"/>
          </a:xfrm>
          <a:prstGeom prst="ellipse">
            <a:avLst/>
          </a:prstGeom>
          <a:solidFill>
            <a:srgbClr val="DFF1E8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F18523B-9906-4DEA-9A13-8E8749F2C6F3}"/>
              </a:ext>
            </a:extLst>
          </p:cNvPr>
          <p:cNvSpPr>
            <a:spLocks noGrp="1"/>
          </p:cNvSpPr>
          <p:nvPr/>
        </p:nvSpPr>
        <p:spPr>
          <a:xfrm>
            <a:off x="9753600" y="40290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251A892-36FF-4208-8AD4-E518602952D8}"/>
              </a:ext>
            </a:extLst>
          </p:cNvPr>
          <p:cNvSpPr>
            <a:spLocks noGrp="1"/>
          </p:cNvSpPr>
          <p:nvPr/>
        </p:nvSpPr>
        <p:spPr>
          <a:xfrm>
            <a:off x="5295900" y="4924425"/>
            <a:ext cx="5429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 algn="ctr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각 fold: 학습 18명 · 평가 3명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A69D2474-0DDF-47C7-8705-157A32320CED}"/>
              </a:ext>
            </a:extLst>
          </p:cNvPr>
          <p:cNvSpPr>
            <a:spLocks noGrp="1"/>
          </p:cNvSpPr>
          <p:nvPr/>
        </p:nvSpPr>
        <p:spPr>
          <a:xfrm>
            <a:off x="7010400" y="544830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7163A75-46A7-4118-AB89-B6D00F2F24B0}"/>
              </a:ext>
            </a:extLst>
          </p:cNvPr>
          <p:cNvSpPr>
            <a:spLocks noGrp="1"/>
          </p:cNvSpPr>
          <p:nvPr/>
        </p:nvSpPr>
        <p:spPr>
          <a:xfrm>
            <a:off x="7086600" y="5495925"/>
            <a:ext cx="22288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Seed 42 · 52 · 62 평균</a:t>
            </a:r>
          </a:p>
        </p:txBody>
      </p:sp>
    </p:spTree>
    <p:extLst>
      <p:ext uri="{BB962C8B-B14F-4D97-AF65-F5344CB8AC3E}">
        <p14:creationId xmlns:p14="http://schemas.microsoft.com/office/powerpoint/2010/main" val="345880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02A80D-096B-4C31-978C-8A6E1A0BCC5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07EEA4-7BD8-4A87-9103-F5736F7803AB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STT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2EC508-FE0F-426F-8DEA-2F05D2BB05A0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C78987-ED1E-4FFC-8677-36DDA252D96E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308E42-E219-4712-B47F-877F0CD6A60E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STT 모델 비교와 최종 선정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1C7BAE-95DA-458D-9944-CF95E89A54F5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CIST 음성 105개와 수동 전사문을 비교했습니다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206E85-6C12-41B4-8A92-4CA7F599AFB5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l">
              <a:def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CLOVA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952700-CDB6-428E-964D-BA548086D3C6}"/>
              </a:ext>
            </a:extLst>
          </p:cNvPr>
          <p:cNvSpPr>
            <a:spLocks noGrp="1"/>
          </p:cNvSpPr>
          <p:nvPr/>
        </p:nvSpPr>
        <p:spPr>
          <a:xfrm>
            <a:off x="2333625" y="2219325"/>
            <a:ext cx="2454478" cy="266700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32104F-64E8-49CC-9958-E8857D173DCE}"/>
              </a:ext>
            </a:extLst>
          </p:cNvPr>
          <p:cNvSpPr>
            <a:spLocks noGrp="1"/>
          </p:cNvSpPr>
          <p:nvPr/>
        </p:nvSpPr>
        <p:spPr>
          <a:xfrm>
            <a:off x="7667625" y="21907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35.79%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07F26E-D893-4D21-9EAE-CC92002267C1}"/>
              </a:ext>
            </a:extLst>
          </p:cNvPr>
          <p:cNvSpPr>
            <a:spLocks noGrp="1"/>
          </p:cNvSpPr>
          <p:nvPr/>
        </p:nvSpPr>
        <p:spPr>
          <a:xfrm>
            <a:off x="8905875" y="21907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빈 전사 2개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BB2A9D-F4AA-404F-A701-4AC9F3B6610C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l">
              <a:def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Chirp 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F02721-B8D6-4388-9C92-6E32519CAFD3}"/>
              </a:ext>
            </a:extLst>
          </p:cNvPr>
          <p:cNvSpPr>
            <a:spLocks noGrp="1"/>
          </p:cNvSpPr>
          <p:nvPr/>
        </p:nvSpPr>
        <p:spPr>
          <a:xfrm>
            <a:off x="2333625" y="2905125"/>
            <a:ext cx="2614270" cy="266700"/>
          </a:xfrm>
          <a:prstGeom prst="rect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53E27A-4744-4E23-91FE-0DAEB30F73B5}"/>
              </a:ext>
            </a:extLst>
          </p:cNvPr>
          <p:cNvSpPr>
            <a:spLocks noGrp="1"/>
          </p:cNvSpPr>
          <p:nvPr/>
        </p:nvSpPr>
        <p:spPr>
          <a:xfrm>
            <a:off x="7667625" y="28765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38.12%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8AEEF4-D842-43ED-BE29-C9842512D399}"/>
              </a:ext>
            </a:extLst>
          </p:cNvPr>
          <p:cNvSpPr>
            <a:spLocks noGrp="1"/>
          </p:cNvSpPr>
          <p:nvPr/>
        </p:nvSpPr>
        <p:spPr>
          <a:xfrm>
            <a:off x="8905875" y="28765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빈 전사 5개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9DD220-95B6-4ACF-ADFF-5424DD9B4C37}"/>
              </a:ext>
            </a:extLst>
          </p:cNvPr>
          <p:cNvSpPr>
            <a:spLocks noGrp="1"/>
          </p:cNvSpPr>
          <p:nvPr/>
        </p:nvSpPr>
        <p:spPr>
          <a:xfrm>
            <a:off x="857250" y="35623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l">
              <a:def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Chirp 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064C6A-17C1-4D41-B2A5-E8B51E91AFA7}"/>
              </a:ext>
            </a:extLst>
          </p:cNvPr>
          <p:cNvSpPr>
            <a:spLocks noGrp="1"/>
          </p:cNvSpPr>
          <p:nvPr/>
        </p:nvSpPr>
        <p:spPr>
          <a:xfrm>
            <a:off x="2333625" y="3590925"/>
            <a:ext cx="3097759" cy="266700"/>
          </a:xfrm>
          <a:prstGeom prst="rect">
            <a:avLst/>
          </a:prstGeom>
          <a:solidFill>
            <a:srgbClr val="6A9C80"/>
          </a:solidFill>
          <a:ln w="14288">
            <a:solidFill>
              <a:srgbClr val="6A9C8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0DEFE1-D354-4EEC-8436-575877621056}"/>
              </a:ext>
            </a:extLst>
          </p:cNvPr>
          <p:cNvSpPr>
            <a:spLocks noGrp="1"/>
          </p:cNvSpPr>
          <p:nvPr/>
        </p:nvSpPr>
        <p:spPr>
          <a:xfrm>
            <a:off x="7667625" y="35623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1">
                <a:solidFill>
                  <a:srgbClr val="6A9C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A9C80"/>
                </a:solidFill>
                <a:latin typeface="Apple SD Gothic Neo"/>
                <a:ea typeface="Apple SD Gothic Neo"/>
                <a:cs typeface="Apple SD Gothic Neo"/>
              </a:rPr>
              <a:t>45.17%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2A1BB3-B444-4FC3-A044-C41DC26C8F8E}"/>
              </a:ext>
            </a:extLst>
          </p:cNvPr>
          <p:cNvSpPr>
            <a:spLocks noGrp="1"/>
          </p:cNvSpPr>
          <p:nvPr/>
        </p:nvSpPr>
        <p:spPr>
          <a:xfrm>
            <a:off x="8905875" y="35623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빈 전사 0개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D712FA-ED0C-4584-ADA3-B89329AA6708}"/>
              </a:ext>
            </a:extLst>
          </p:cNvPr>
          <p:cNvSpPr>
            <a:spLocks noGrp="1"/>
          </p:cNvSpPr>
          <p:nvPr/>
        </p:nvSpPr>
        <p:spPr>
          <a:xfrm>
            <a:off x="857250" y="42481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l">
              <a:def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Whisper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4EA1256-B949-4C47-BBF7-9197F2531730}"/>
              </a:ext>
            </a:extLst>
          </p:cNvPr>
          <p:cNvSpPr>
            <a:spLocks noGrp="1"/>
          </p:cNvSpPr>
          <p:nvPr/>
        </p:nvSpPr>
        <p:spPr>
          <a:xfrm>
            <a:off x="2333625" y="4276725"/>
            <a:ext cx="4134688" cy="266700"/>
          </a:xfrm>
          <a:prstGeom prst="rect">
            <a:avLst/>
          </a:prstGeom>
          <a:solidFill>
            <a:srgbClr val="6B766F"/>
          </a:solidFill>
          <a:ln w="14288">
            <a:solidFill>
              <a:srgbClr val="6B766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555B04D-9ACB-454D-ACDF-41D56D5B9D4C}"/>
              </a:ext>
            </a:extLst>
          </p:cNvPr>
          <p:cNvSpPr>
            <a:spLocks noGrp="1"/>
          </p:cNvSpPr>
          <p:nvPr/>
        </p:nvSpPr>
        <p:spPr>
          <a:xfrm>
            <a:off x="7667625" y="42481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60.29%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0A05A1-ADAD-49EE-9618-B40D6127F51D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빈 전사 11개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3F58C28-7A97-4303-A628-E220A11854F4}"/>
              </a:ext>
            </a:extLst>
          </p:cNvPr>
          <p:cNvSpPr>
            <a:spLocks noGrp="1"/>
          </p:cNvSpPr>
          <p:nvPr/>
        </p:nvSpPr>
        <p:spPr>
          <a:xfrm>
            <a:off x="857250" y="49339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l">
              <a:def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Short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27C21E-63EB-4772-ACAC-F01D8BA08B4B}"/>
              </a:ext>
            </a:extLst>
          </p:cNvPr>
          <p:cNvSpPr>
            <a:spLocks noGrp="1"/>
          </p:cNvSpPr>
          <p:nvPr/>
        </p:nvSpPr>
        <p:spPr>
          <a:xfrm>
            <a:off x="2333625" y="4962525"/>
            <a:ext cx="5297119" cy="266700"/>
          </a:xfrm>
          <a:prstGeom prst="rect">
            <a:avLst/>
          </a:prstGeom>
          <a:solidFill>
            <a:srgbClr val="AD704B"/>
          </a:solidFill>
          <a:ln w="14288">
            <a:solidFill>
              <a:srgbClr val="AD704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2F89E93-8581-4FBB-B3D5-2B86990772A3}"/>
              </a:ext>
            </a:extLst>
          </p:cNvPr>
          <p:cNvSpPr>
            <a:spLocks noGrp="1"/>
          </p:cNvSpPr>
          <p:nvPr/>
        </p:nvSpPr>
        <p:spPr>
          <a:xfrm>
            <a:off x="7667625" y="49339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1">
                <a:solidFill>
                  <a:srgbClr val="AD7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AD704B"/>
                </a:solidFill>
                <a:latin typeface="Apple SD Gothic Neo"/>
                <a:ea typeface="Apple SD Gothic Neo"/>
                <a:cs typeface="Apple SD Gothic Neo"/>
              </a:rPr>
              <a:t>77.24%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344C3A-811D-44EB-9141-CAC1B715F981}"/>
              </a:ext>
            </a:extLst>
          </p:cNvPr>
          <p:cNvSpPr>
            <a:spLocks noGrp="1"/>
          </p:cNvSpPr>
          <p:nvPr/>
        </p:nvSpPr>
        <p:spPr>
          <a:xfrm>
            <a:off x="8905875" y="49339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빈 전사 39개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FFA7A21-F381-40B5-BEC5-C0C1A734A43D}"/>
              </a:ext>
            </a:extLst>
          </p:cNvPr>
          <p:cNvSpPr>
            <a:spLocks noGrp="1"/>
          </p:cNvSpPr>
          <p:nvPr/>
        </p:nvSpPr>
        <p:spPr>
          <a:xfrm>
            <a:off x="8191500" y="5381625"/>
            <a:ext cx="2952750" cy="552450"/>
          </a:xfrm>
          <a:prstGeom prst="roundRect">
            <a:avLst>
              <a:gd name="adj" fmla="val 13793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56DB4B-EBEB-4065-B4C8-C14421509F44}"/>
              </a:ext>
            </a:extLst>
          </p:cNvPr>
          <p:cNvSpPr>
            <a:spLocks noGrp="1"/>
          </p:cNvSpPr>
          <p:nvPr/>
        </p:nvSpPr>
        <p:spPr>
          <a:xfrm>
            <a:off x="8429625" y="5524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 lnSpcReduction="10000"/>
          </a:bodyPr>
          <a:lstStyle/>
          <a:p>
            <a:pPr algn="ctr">
              <a:defRPr sz="150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최종: Google Chirp 3</a:t>
            </a:r>
          </a:p>
        </p:txBody>
      </p:sp>
    </p:spTree>
    <p:extLst>
      <p:ext uri="{BB962C8B-B14F-4D97-AF65-F5344CB8AC3E}">
        <p14:creationId xmlns:p14="http://schemas.microsoft.com/office/powerpoint/2010/main" val="1678212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65ABF11F-367D-4DF0-BD7C-ACEAFA740EC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AF191D-CD08-41A6-8819-91A317D3637C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FEATURES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4EF896-43E0-4A44-A41D-B3DB5E622B84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0316E8-0B4E-47FD-A8A1-FCC51E933842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F05953-72C8-49F7-9F43-B179DC07ED83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Fusion에 입력한 네 가지 특징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FE5C41C-9DAB-414A-A044-DFF5491A79B0}"/>
              </a:ext>
            </a:extLst>
          </p:cNvPr>
          <p:cNvSpPr>
            <a:spLocks noGrp="1"/>
          </p:cNvSpPr>
          <p:nvPr/>
        </p:nvSpPr>
        <p:spPr>
          <a:xfrm>
            <a:off x="1400175" y="2095500"/>
            <a:ext cx="723900" cy="7239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CA7E63-55F8-4D97-88A2-04543E2DD28E}"/>
              </a:ext>
            </a:extLst>
          </p:cNvPr>
          <p:cNvSpPr>
            <a:spLocks noGrp="1"/>
          </p:cNvSpPr>
          <p:nvPr/>
        </p:nvSpPr>
        <p:spPr>
          <a:xfrm>
            <a:off x="1400175" y="2333625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17" lnSpcReduction="10000"/>
          </a:bodyPr>
          <a:lstStyle/>
          <a:p>
            <a:pPr algn="ctr">
              <a:defRPr sz="12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F37781-BF89-4FB9-AF7F-B95776F0D0D2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AST logit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B19DF8-3E0B-41A9-AFC2-305E1038E539}"/>
              </a:ext>
            </a:extLst>
          </p:cNvPr>
          <p:cNvSpPr>
            <a:spLocks noGrp="1"/>
          </p:cNvSpPr>
          <p:nvPr/>
        </p:nvSpPr>
        <p:spPr>
          <a:xfrm>
            <a:off x="523875" y="36385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어떻게 말했는가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F3FEEC-6A21-4E54-8DFB-D0975CB072F8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음향 특징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C4BC90-FE9F-4DB0-90C5-99AD755E685A}"/>
              </a:ext>
            </a:extLst>
          </p:cNvPr>
          <p:cNvSpPr>
            <a:spLocks noGrp="1"/>
          </p:cNvSpPr>
          <p:nvPr/>
        </p:nvSpPr>
        <p:spPr>
          <a:xfrm>
            <a:off x="1238250" y="4762500"/>
            <a:ext cx="1047750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A55BD49-79AB-42E8-B986-CB943562E813}"/>
              </a:ext>
            </a:extLst>
          </p:cNvPr>
          <p:cNvSpPr>
            <a:spLocks noGrp="1"/>
          </p:cNvSpPr>
          <p:nvPr/>
        </p:nvSpPr>
        <p:spPr>
          <a:xfrm>
            <a:off x="2228850" y="472440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E75716F-922C-4C19-9D31-A1E47DC8CEFD}"/>
              </a:ext>
            </a:extLst>
          </p:cNvPr>
          <p:cNvSpPr>
            <a:spLocks noGrp="1"/>
          </p:cNvSpPr>
          <p:nvPr/>
        </p:nvSpPr>
        <p:spPr>
          <a:xfrm>
            <a:off x="4305300" y="2095500"/>
            <a:ext cx="723900" cy="7239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5C652D-20CF-4575-A07E-92DAB560BD50}"/>
              </a:ext>
            </a:extLst>
          </p:cNvPr>
          <p:cNvSpPr>
            <a:spLocks noGrp="1"/>
          </p:cNvSpPr>
          <p:nvPr/>
        </p:nvSpPr>
        <p:spPr>
          <a:xfrm>
            <a:off x="4305300" y="2333625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17" lnSpcReduction="10000"/>
          </a:bodyPr>
          <a:lstStyle/>
          <a:p>
            <a:pPr algn="ctr">
              <a:defRPr sz="12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F7CACC-7158-40EB-8CDD-A7D741FB8F97}"/>
              </a:ext>
            </a:extLst>
          </p:cNvPr>
          <p:cNvSpPr>
            <a:spLocks noGrp="1"/>
          </p:cNvSpPr>
          <p:nvPr/>
        </p:nvSpPr>
        <p:spPr>
          <a:xfrm>
            <a:off x="3429000" y="31432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KcELECTRA logit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3E1328-5E95-442A-B543-01530A13035E}"/>
              </a:ext>
            </a:extLst>
          </p:cNvPr>
          <p:cNvSpPr>
            <a:spLocks noGrp="1"/>
          </p:cNvSpPr>
          <p:nvPr/>
        </p:nvSpPr>
        <p:spPr>
          <a:xfrm>
            <a:off x="3429000" y="36385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무엇을 말했는가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85DEEB-31C4-4BA3-9E0A-A2E600D994FA}"/>
              </a:ext>
            </a:extLst>
          </p:cNvPr>
          <p:cNvSpPr>
            <a:spLocks noGrp="1"/>
          </p:cNvSpPr>
          <p:nvPr/>
        </p:nvSpPr>
        <p:spPr>
          <a:xfrm>
            <a:off x="3429000" y="40957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언어 특징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3BEA8D2-CEB7-4D6C-9E74-EDF1A83851BC}"/>
              </a:ext>
            </a:extLst>
          </p:cNvPr>
          <p:cNvSpPr>
            <a:spLocks noGrp="1"/>
          </p:cNvSpPr>
          <p:nvPr/>
        </p:nvSpPr>
        <p:spPr>
          <a:xfrm>
            <a:off x="4143375" y="4762500"/>
            <a:ext cx="1047750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3BF24B3-EE33-46E8-9948-A6500A729B99}"/>
              </a:ext>
            </a:extLst>
          </p:cNvPr>
          <p:cNvSpPr>
            <a:spLocks noGrp="1"/>
          </p:cNvSpPr>
          <p:nvPr/>
        </p:nvSpPr>
        <p:spPr>
          <a:xfrm>
            <a:off x="5133975" y="472440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4805C35-3588-4FC0-A4B3-B4E1F4B4D683}"/>
              </a:ext>
            </a:extLst>
          </p:cNvPr>
          <p:cNvSpPr>
            <a:spLocks noGrp="1"/>
          </p:cNvSpPr>
          <p:nvPr/>
        </p:nvSpPr>
        <p:spPr>
          <a:xfrm>
            <a:off x="7210425" y="2095500"/>
            <a:ext cx="723900" cy="7239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21D78F-2AA5-4532-86E0-0F2061E3870E}"/>
              </a:ext>
            </a:extLst>
          </p:cNvPr>
          <p:cNvSpPr>
            <a:spLocks noGrp="1"/>
          </p:cNvSpPr>
          <p:nvPr/>
        </p:nvSpPr>
        <p:spPr>
          <a:xfrm>
            <a:off x="7210425" y="2333625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17" lnSpcReduction="10000"/>
          </a:bodyPr>
          <a:lstStyle/>
          <a:p>
            <a:pPr algn="ctr">
              <a:defRPr sz="12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E9A426C-AE23-472C-B49A-BBD09F39AB46}"/>
              </a:ext>
            </a:extLst>
          </p:cNvPr>
          <p:cNvSpPr>
            <a:spLocks noGrp="1"/>
          </p:cNvSpPr>
          <p:nvPr/>
        </p:nvSpPr>
        <p:spPr>
          <a:xfrm>
            <a:off x="6334125" y="31432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문항 수행 점수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5F5D394-6D9B-4A54-B7BD-001AEE637C28}"/>
              </a:ext>
            </a:extLst>
          </p:cNvPr>
          <p:cNvSpPr>
            <a:spLocks noGrp="1"/>
          </p:cNvSpPr>
          <p:nvPr/>
        </p:nvSpPr>
        <p:spPr>
          <a:xfrm>
            <a:off x="6334125" y="36385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정답 · 오답 · 건너뜀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A37BE47-B2CF-4B54-B8C4-23A974334FC5}"/>
              </a:ext>
            </a:extLst>
          </p:cNvPr>
          <p:cNvSpPr>
            <a:spLocks noGrp="1"/>
          </p:cNvSpPr>
          <p:nvPr/>
        </p:nvSpPr>
        <p:spPr>
          <a:xfrm>
            <a:off x="6334125" y="40957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문항 수행 특징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9E785FA-BD03-48E4-BE3B-546E4E174DC4}"/>
              </a:ext>
            </a:extLst>
          </p:cNvPr>
          <p:cNvSpPr>
            <a:spLocks noGrp="1"/>
          </p:cNvSpPr>
          <p:nvPr/>
        </p:nvSpPr>
        <p:spPr>
          <a:xfrm>
            <a:off x="7048500" y="4762500"/>
            <a:ext cx="1047750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C6BB563-10FB-4091-B112-8EB88E09C28B}"/>
              </a:ext>
            </a:extLst>
          </p:cNvPr>
          <p:cNvSpPr>
            <a:spLocks noGrp="1"/>
          </p:cNvSpPr>
          <p:nvPr/>
        </p:nvSpPr>
        <p:spPr>
          <a:xfrm>
            <a:off x="8039100" y="472440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97C33CD-E0AB-4B5A-A7AB-1F8603EF8042}"/>
              </a:ext>
            </a:extLst>
          </p:cNvPr>
          <p:cNvSpPr>
            <a:spLocks noGrp="1"/>
          </p:cNvSpPr>
          <p:nvPr/>
        </p:nvSpPr>
        <p:spPr>
          <a:xfrm>
            <a:off x="10115550" y="2095500"/>
            <a:ext cx="723900" cy="72390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B9E6BE0-0C51-44CE-9642-62510E6C26DE}"/>
              </a:ext>
            </a:extLst>
          </p:cNvPr>
          <p:cNvSpPr>
            <a:spLocks noGrp="1"/>
          </p:cNvSpPr>
          <p:nvPr/>
        </p:nvSpPr>
        <p:spPr>
          <a:xfrm>
            <a:off x="10115550" y="2333625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17"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185D4EC-02C7-4061-AE08-E06B688FE8DB}"/>
              </a:ext>
            </a:extLst>
          </p:cNvPr>
          <p:cNvSpPr>
            <a:spLocks noGrp="1"/>
          </p:cNvSpPr>
          <p:nvPr/>
        </p:nvSpPr>
        <p:spPr>
          <a:xfrm>
            <a:off x="9239250" y="31432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응답 지연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D9DDE9-A68B-4BD8-9D1B-140D1E4CBF71}"/>
              </a:ext>
            </a:extLst>
          </p:cNvPr>
          <p:cNvSpPr>
            <a:spLocks noGrp="1"/>
          </p:cNvSpPr>
          <p:nvPr/>
        </p:nvSpPr>
        <p:spPr>
          <a:xfrm>
            <a:off x="9239250" y="36385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답변까지 얼마나 걸렸는가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B40B412-F12C-425B-BE9E-7FFCFB00A52A}"/>
              </a:ext>
            </a:extLst>
          </p:cNvPr>
          <p:cNvSpPr>
            <a:spLocks noGrp="1"/>
          </p:cNvSpPr>
          <p:nvPr/>
        </p:nvSpPr>
        <p:spPr>
          <a:xfrm>
            <a:off x="9239250" y="40957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VAD 기반 시간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D448583-8063-4024-893A-EE91B5D1C02B}"/>
              </a:ext>
            </a:extLst>
          </p:cNvPr>
          <p:cNvSpPr>
            <a:spLocks noGrp="1"/>
          </p:cNvSpPr>
          <p:nvPr/>
        </p:nvSpPr>
        <p:spPr>
          <a:xfrm>
            <a:off x="9953625" y="4762500"/>
            <a:ext cx="1047750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B930421-C18B-46B4-A87C-2D32F92ACB24}"/>
              </a:ext>
            </a:extLst>
          </p:cNvPr>
          <p:cNvSpPr>
            <a:spLocks noGrp="1"/>
          </p:cNvSpPr>
          <p:nvPr/>
        </p:nvSpPr>
        <p:spPr>
          <a:xfrm>
            <a:off x="10944225" y="472440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1D372A0C-006B-4B80-A9CD-A4560BD4FAAD}"/>
              </a:ext>
            </a:extLst>
          </p:cNvPr>
          <p:cNvSpPr>
            <a:spLocks noGrp="1"/>
          </p:cNvSpPr>
          <p:nvPr/>
        </p:nvSpPr>
        <p:spPr>
          <a:xfrm>
            <a:off x="3667125" y="5381625"/>
            <a:ext cx="4857750" cy="552450"/>
          </a:xfrm>
          <a:prstGeom prst="roundRect">
            <a:avLst>
              <a:gd name="adj" fmla="val 13793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98FEBEF-BDCA-4264-AD3C-A0DB0E5003C1}"/>
              </a:ext>
            </a:extLst>
          </p:cNvPr>
          <p:cNvSpPr>
            <a:spLocks noGrp="1"/>
          </p:cNvSpPr>
          <p:nvPr/>
        </p:nvSpPr>
        <p:spPr>
          <a:xfrm>
            <a:off x="3857625" y="5524500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 lnSpcReduction="10000"/>
          </a:bodyPr>
          <a:lstStyle/>
          <a:p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StandardScaler + L2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787353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33C3C6D2-D9FF-455D-9839-B47DD92D45A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7A9B99-C30B-4109-A2F4-A2AA9E8E00D7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SINGLE MODEL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3BF7B47-BE9C-4125-B892-B4B8CB4BC857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20FE68-20EF-4010-B952-9C13420C9A0D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6BF109-88E3-4149-9D82-DEBE8ABE2B2E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단일 모델 평가 결과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546DABC-6483-42A8-ABC4-B1BF5FEC2592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임계값 0.5 결과와 연속 점수의 순위 구분 능력을 함께 해석했습니다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44D055F-2771-477F-A4E5-DE051B9F287C}"/>
              </a:ext>
            </a:extLst>
          </p:cNvPr>
          <p:cNvSpPr>
            <a:spLocks noGrp="1"/>
          </p:cNvSpPr>
          <p:nvPr/>
        </p:nvSpPr>
        <p:spPr>
          <a:xfrm>
            <a:off x="904875" y="2190750"/>
            <a:ext cx="4476750" cy="3190875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5D8B9A-B35F-474A-805D-96723B00F3F8}"/>
              </a:ext>
            </a:extLst>
          </p:cNvPr>
          <p:cNvSpPr>
            <a:spLocks noGrp="1"/>
          </p:cNvSpPr>
          <p:nvPr/>
        </p:nvSpPr>
        <p:spPr>
          <a:xfrm>
            <a:off x="1238250" y="24765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33" lnSpcReduction="20000"/>
          </a:bodyPr>
          <a:lstStyle/>
          <a:p>
            <a:pPr algn="l">
              <a:defRPr sz="1875" b="1">
                <a:solidFill>
                  <a:srgbClr val="AD7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AD704B"/>
                </a:solidFill>
                <a:latin typeface="Apple SD Gothic Neo"/>
                <a:ea typeface="Apple SD Gothic Neo"/>
                <a:cs typeface="Apple SD Gothic Neo"/>
              </a:rPr>
              <a:t>AST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63594E-C0DB-448F-BA77-181694BCC8F5}"/>
              </a:ext>
            </a:extLst>
          </p:cNvPr>
          <p:cNvSpPr>
            <a:spLocks noGrp="1"/>
          </p:cNvSpPr>
          <p:nvPr/>
        </p:nvSpPr>
        <p:spPr>
          <a:xfrm>
            <a:off x="1238250" y="3095625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Accuracy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609889-A9A9-4A23-8E64-93788C77185C}"/>
              </a:ext>
            </a:extLst>
          </p:cNvPr>
          <p:cNvSpPr>
            <a:spLocks noGrp="1"/>
          </p:cNvSpPr>
          <p:nvPr/>
        </p:nvSpPr>
        <p:spPr>
          <a:xfrm>
            <a:off x="1238250" y="3400425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AD7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D704B"/>
                </a:solidFill>
                <a:latin typeface="Apple SD Gothic Neo"/>
                <a:ea typeface="Apple SD Gothic Neo"/>
                <a:cs typeface="Apple SD Gothic Neo"/>
              </a:rPr>
              <a:t>57.1%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898EF7-0302-42EA-9873-F206DCD9F129}"/>
              </a:ext>
            </a:extLst>
          </p:cNvPr>
          <p:cNvSpPr>
            <a:spLocks noGrp="1"/>
          </p:cNvSpPr>
          <p:nvPr/>
        </p:nvSpPr>
        <p:spPr>
          <a:xfrm>
            <a:off x="3095625" y="3095625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위험군 Recall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191ACC-10D1-4EBE-AF52-66B41A76225B}"/>
              </a:ext>
            </a:extLst>
          </p:cNvPr>
          <p:cNvSpPr>
            <a:spLocks noGrp="1"/>
          </p:cNvSpPr>
          <p:nvPr/>
        </p:nvSpPr>
        <p:spPr>
          <a:xfrm>
            <a:off x="3095625" y="3400425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AD7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D704B"/>
                </a:solidFill>
                <a:latin typeface="Apple SD Gothic Neo"/>
                <a:ea typeface="Apple SD Gothic Neo"/>
                <a:cs typeface="Apple SD Gothic Neo"/>
              </a:rPr>
              <a:t>80.0%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2D8F94B-5633-429F-85E7-0328B9AFD216}"/>
              </a:ext>
            </a:extLst>
          </p:cNvPr>
          <p:cNvSpPr>
            <a:spLocks noGrp="1"/>
          </p:cNvSpPr>
          <p:nvPr/>
        </p:nvSpPr>
        <p:spPr>
          <a:xfrm>
            <a:off x="1238250" y="4238625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Specificity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7F45E2-D1D9-4A00-9DCA-8EDE563DC988}"/>
              </a:ext>
            </a:extLst>
          </p:cNvPr>
          <p:cNvSpPr>
            <a:spLocks noGrp="1"/>
          </p:cNvSpPr>
          <p:nvPr/>
        </p:nvSpPr>
        <p:spPr>
          <a:xfrm>
            <a:off x="1238250" y="4543425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36.4%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6F53AB-5A1A-4ADA-B983-EE853C829428}"/>
              </a:ext>
            </a:extLst>
          </p:cNvPr>
          <p:cNvSpPr>
            <a:spLocks noGrp="1"/>
          </p:cNvSpPr>
          <p:nvPr/>
        </p:nvSpPr>
        <p:spPr>
          <a:xfrm>
            <a:off x="3095625" y="4238625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ROC-AUC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DD70CD-6576-4CBD-82BE-AF00E157C52D}"/>
              </a:ext>
            </a:extLst>
          </p:cNvPr>
          <p:cNvSpPr>
            <a:spLocks noGrp="1"/>
          </p:cNvSpPr>
          <p:nvPr/>
        </p:nvSpPr>
        <p:spPr>
          <a:xfrm>
            <a:off x="3095625" y="4543425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49.1%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DEC2CC5-1412-4F0C-8EC9-A422BAA56408}"/>
              </a:ext>
            </a:extLst>
          </p:cNvPr>
          <p:cNvSpPr>
            <a:spLocks noGrp="1"/>
          </p:cNvSpPr>
          <p:nvPr/>
        </p:nvSpPr>
        <p:spPr>
          <a:xfrm>
            <a:off x="6810375" y="2190750"/>
            <a:ext cx="4476750" cy="3190875"/>
          </a:xfrm>
          <a:prstGeom prst="roundRect">
            <a:avLst>
              <a:gd name="adj" fmla="val 417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E851407-05CC-4AFD-9730-23954274AD52}"/>
              </a:ext>
            </a:extLst>
          </p:cNvPr>
          <p:cNvSpPr>
            <a:spLocks noGrp="1"/>
          </p:cNvSpPr>
          <p:nvPr/>
        </p:nvSpPr>
        <p:spPr>
          <a:xfrm>
            <a:off x="7143750" y="247650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33" lnSpcReduction="20000"/>
          </a:bodyPr>
          <a:lstStyle/>
          <a:p>
            <a:pPr algn="l">
              <a:defRPr sz="18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KcELECTRA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533E07-330C-4BF3-A35F-40A3B9EA2541}"/>
              </a:ext>
            </a:extLst>
          </p:cNvPr>
          <p:cNvSpPr>
            <a:spLocks noGrp="1"/>
          </p:cNvSpPr>
          <p:nvPr/>
        </p:nvSpPr>
        <p:spPr>
          <a:xfrm>
            <a:off x="7143750" y="3095625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Accuracy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E08E1F-D723-44CD-8CDD-420841262819}"/>
              </a:ext>
            </a:extLst>
          </p:cNvPr>
          <p:cNvSpPr>
            <a:spLocks noGrp="1"/>
          </p:cNvSpPr>
          <p:nvPr/>
        </p:nvSpPr>
        <p:spPr>
          <a:xfrm>
            <a:off x="7143750" y="3400425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61.9%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FDF58F-F282-4DBF-959A-71623409796D}"/>
              </a:ext>
            </a:extLst>
          </p:cNvPr>
          <p:cNvSpPr>
            <a:spLocks noGrp="1"/>
          </p:cNvSpPr>
          <p:nvPr/>
        </p:nvSpPr>
        <p:spPr>
          <a:xfrm>
            <a:off x="9001125" y="3095625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위험군 Recall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A184B0-E546-436A-8895-F70FBDA68C05}"/>
              </a:ext>
            </a:extLst>
          </p:cNvPr>
          <p:cNvSpPr>
            <a:spLocks noGrp="1"/>
          </p:cNvSpPr>
          <p:nvPr/>
        </p:nvSpPr>
        <p:spPr>
          <a:xfrm>
            <a:off x="9001125" y="3400425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20.0%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E29695-BA28-42EA-B73E-5B392144B693}"/>
              </a:ext>
            </a:extLst>
          </p:cNvPr>
          <p:cNvSpPr>
            <a:spLocks noGrp="1"/>
          </p:cNvSpPr>
          <p:nvPr/>
        </p:nvSpPr>
        <p:spPr>
          <a:xfrm>
            <a:off x="7143750" y="4238625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Specificity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90391E-F0FF-442C-B67A-EEB7F1663BD8}"/>
              </a:ext>
            </a:extLst>
          </p:cNvPr>
          <p:cNvSpPr>
            <a:spLocks noGrp="1"/>
          </p:cNvSpPr>
          <p:nvPr/>
        </p:nvSpPr>
        <p:spPr>
          <a:xfrm>
            <a:off x="7143750" y="4543425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A07CEAF-541E-4A8B-8860-38234BD39EEB}"/>
              </a:ext>
            </a:extLst>
          </p:cNvPr>
          <p:cNvSpPr>
            <a:spLocks noGrp="1"/>
          </p:cNvSpPr>
          <p:nvPr/>
        </p:nvSpPr>
        <p:spPr>
          <a:xfrm>
            <a:off x="9001125" y="4238625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ROC-AUC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38EB07C-D30F-4440-A7E8-0CC2FC68D304}"/>
              </a:ext>
            </a:extLst>
          </p:cNvPr>
          <p:cNvSpPr>
            <a:spLocks noGrp="1"/>
          </p:cNvSpPr>
          <p:nvPr/>
        </p:nvSpPr>
        <p:spPr>
          <a:xfrm>
            <a:off x="9001125" y="4543425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84.5%</a:t>
            </a:r>
          </a:p>
        </p:txBody>
      </p:sp>
    </p:spTree>
    <p:extLst>
      <p:ext uri="{BB962C8B-B14F-4D97-AF65-F5344CB8AC3E}">
        <p14:creationId xmlns:p14="http://schemas.microsoft.com/office/powerpoint/2010/main" val="70365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EAF0F40D-2D45-4753-8D69-A09380DD36E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8E0E2F-7897-42B5-809F-89E522281B8A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AST LIMITATION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33A437-B9A3-4AE7-83D5-D6EF97DE7ACC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37F6F6-27C8-48CA-83CD-1685B99C4375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BEFE2B-574A-44DD-94CE-861CE9DB9437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AST 성능을 제한한 요인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9E2BEC-3A8D-45A5-9908-CD33734F0FC7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현재 데이터와 실험 구조를 바탕으로 추정한 원인입니다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0EDCFBF3-CCD8-4E82-BAE6-8327D8F2D793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314325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47DC09-D8D4-4299-B491-2B1E9F85CABA}"/>
              </a:ext>
            </a:extLst>
          </p:cNvPr>
          <p:cNvSpPr>
            <a:spLocks noGrp="1"/>
          </p:cNvSpPr>
          <p:nvPr/>
        </p:nvSpPr>
        <p:spPr>
          <a:xfrm>
            <a:off x="1047750" y="24288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DC0C38-9A82-4E2D-9630-B2ED905ACA9C}"/>
              </a:ext>
            </a:extLst>
          </p:cNvPr>
          <p:cNvSpPr>
            <a:spLocks noGrp="1"/>
          </p:cNvSpPr>
          <p:nvPr/>
        </p:nvSpPr>
        <p:spPr>
          <a:xfrm>
            <a:off x="1047750" y="2905125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독립 대상자 21명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13F6AF-CF99-4B64-A262-F98F2CDC2DD4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6667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5B1935-7A8B-4142-B18C-21134E26812E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2667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한 명의 결과가 Accuracy 약 4.8%p에 영향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904286B-E904-47A4-AD50-F1E2D23982BF}"/>
              </a:ext>
            </a:extLst>
          </p:cNvPr>
          <p:cNvSpPr>
            <a:spLocks noGrp="1"/>
          </p:cNvSpPr>
          <p:nvPr/>
        </p:nvSpPr>
        <p:spPr>
          <a:xfrm>
            <a:off x="4333875" y="2238375"/>
            <a:ext cx="314325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6201E5-9EA4-448A-B571-4002799CF77E}"/>
              </a:ext>
            </a:extLst>
          </p:cNvPr>
          <p:cNvSpPr>
            <a:spLocks noGrp="1"/>
          </p:cNvSpPr>
          <p:nvPr/>
        </p:nvSpPr>
        <p:spPr>
          <a:xfrm>
            <a:off x="4572000" y="24288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C1FC25-48EA-42ED-A930-C649A45B5322}"/>
              </a:ext>
            </a:extLst>
          </p:cNvPr>
          <p:cNvSpPr>
            <a:spLocks noGrp="1"/>
          </p:cNvSpPr>
          <p:nvPr/>
        </p:nvSpPr>
        <p:spPr>
          <a:xfrm>
            <a:off x="4572000" y="2905125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대상자 라벨과 4초 입력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3A0944-B39B-476B-BE91-54B448DF31BB}"/>
              </a:ext>
            </a:extLst>
          </p:cNvPr>
          <p:cNvSpPr>
            <a:spLocks noGrp="1"/>
          </p:cNvSpPr>
          <p:nvPr/>
        </p:nvSpPr>
        <p:spPr>
          <a:xfrm>
            <a:off x="4572000" y="3619500"/>
            <a:ext cx="6667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AA0DEA-F9D8-4472-8C48-74CBFFCE0446}"/>
              </a:ext>
            </a:extLst>
          </p:cNvPr>
          <p:cNvSpPr>
            <a:spLocks noGrp="1"/>
          </p:cNvSpPr>
          <p:nvPr/>
        </p:nvSpPr>
        <p:spPr>
          <a:xfrm>
            <a:off x="4572000" y="3905250"/>
            <a:ext cx="2667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모든 짧은 발화가 인지 상태를 충분히 담지는 않음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B486EB1-30F2-4FFC-AD66-0C834A931BDC}"/>
              </a:ext>
            </a:extLst>
          </p:cNvPr>
          <p:cNvSpPr>
            <a:spLocks noGrp="1"/>
          </p:cNvSpPr>
          <p:nvPr/>
        </p:nvSpPr>
        <p:spPr>
          <a:xfrm>
            <a:off x="7858125" y="2238375"/>
            <a:ext cx="314325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94A7D9-B521-4084-B8B7-A63F8A8040DF}"/>
              </a:ext>
            </a:extLst>
          </p:cNvPr>
          <p:cNvSpPr>
            <a:spLocks noGrp="1"/>
          </p:cNvSpPr>
          <p:nvPr/>
        </p:nvSpPr>
        <p:spPr>
          <a:xfrm>
            <a:off x="8096250" y="24288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CEAA52-A1B2-4EC9-8C1F-A01F43DA46BA}"/>
              </a:ext>
            </a:extLst>
          </p:cNvPr>
          <p:cNvSpPr>
            <a:spLocks noGrp="1"/>
          </p:cNvSpPr>
          <p:nvPr/>
        </p:nvSpPr>
        <p:spPr>
          <a:xfrm>
            <a:off x="8096250" y="2905125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AudioSet과 CIST 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BDB847-8EBC-4CA2-9BD3-D6CEDE48AF88}"/>
              </a:ext>
            </a:extLst>
          </p:cNvPr>
          <p:cNvSpPr>
            <a:spLocks noGrp="1"/>
          </p:cNvSpPr>
          <p:nvPr/>
        </p:nvSpPr>
        <p:spPr>
          <a:xfrm>
            <a:off x="8096250" y="3619500"/>
            <a:ext cx="666750" cy="38100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3B5677-0524-4D67-B9DA-B7BDF775D9B6}"/>
              </a:ext>
            </a:extLst>
          </p:cNvPr>
          <p:cNvSpPr>
            <a:spLocks noGrp="1"/>
          </p:cNvSpPr>
          <p:nvPr/>
        </p:nvSpPr>
        <p:spPr>
          <a:xfrm>
            <a:off x="8096250" y="3905250"/>
            <a:ext cx="2667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일반 음향 사전학습과 한국어 고령자 단답형의 차이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476DC80-C92E-4AED-B9EA-05DDFD0B0EA1}"/>
              </a:ext>
            </a:extLst>
          </p:cNvPr>
          <p:cNvSpPr>
            <a:spLocks noGrp="1"/>
          </p:cNvSpPr>
          <p:nvPr/>
        </p:nvSpPr>
        <p:spPr>
          <a:xfrm>
            <a:off x="1047750" y="5572125"/>
            <a:ext cx="10096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D68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D68A52"/>
                </a:solidFill>
                <a:latin typeface="Apple SD Gothic Neo"/>
                <a:ea typeface="Apple SD Gothic Neo"/>
                <a:cs typeface="Apple SD Gothic Neo"/>
              </a:rPr>
              <a:t>각 원인의 영향은 추가 데이터와 통제 실험으로 검증해야 합니다</a:t>
            </a:r>
          </a:p>
        </p:txBody>
      </p:sp>
    </p:spTree>
    <p:extLst>
      <p:ext uri="{BB962C8B-B14F-4D97-AF65-F5344CB8AC3E}">
        <p14:creationId xmlns:p14="http://schemas.microsoft.com/office/powerpoint/2010/main" val="810025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C6E926FD-5843-442E-8A87-95B37FE505CE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72BC92-E130-4268-BE2E-7057C41F92ED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AST EXPERIMENT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411667-4957-4343-AFC3-535DBC40134C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B11FF0-11C4-4A5A-A5CC-40694CEE6C3A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0BED79-A29C-42C9-8327-B24EDC63A4D0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반복 실험을 통한 AST 개선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8FF95C-B398-40C1-9AFC-F9FCD9CE1C1D}"/>
              </a:ext>
            </a:extLst>
          </p:cNvPr>
          <p:cNvSpPr>
            <a:spLocks noGrp="1"/>
          </p:cNvSpPr>
          <p:nvPr/>
        </p:nvSpPr>
        <p:spPr>
          <a:xfrm>
            <a:off x="1547813" y="2233613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 err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초기</a:t>
            </a:r>
            <a:r>
              <a:rPr sz="1050" b="1" dirty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후보</a:t>
            </a:r>
            <a:endParaRPr sz="1050" b="1" dirty="0">
              <a:solidFill>
                <a:srgbClr val="6B766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EB957D-7DFE-4B44-A9BB-FFAC36F6D42D}"/>
              </a:ext>
            </a:extLst>
          </p:cNvPr>
          <p:cNvSpPr>
            <a:spLocks noGrp="1"/>
          </p:cNvSpPr>
          <p:nvPr/>
        </p:nvSpPr>
        <p:spPr>
          <a:xfrm>
            <a:off x="1014413" y="2581276"/>
            <a:ext cx="2381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320" lnSpcReduction="10000"/>
          </a:bodyPr>
          <a:lstStyle/>
          <a:p>
            <a:pPr algn="l">
              <a:defRPr sz="3675" b="1">
                <a:solidFill>
                  <a:srgbClr val="AD7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 dirty="0">
                <a:solidFill>
                  <a:srgbClr val="AD704B"/>
                </a:solidFill>
                <a:latin typeface="Apple SD Gothic Neo"/>
                <a:ea typeface="Apple SD Gothic Neo"/>
                <a:cs typeface="Apple SD Gothic Neo"/>
              </a:rPr>
              <a:t>42.9%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C8030A-1420-4536-8189-5E359FFA1CC6}"/>
              </a:ext>
            </a:extLst>
          </p:cNvPr>
          <p:cNvSpPr>
            <a:spLocks noGrp="1"/>
          </p:cNvSpPr>
          <p:nvPr/>
        </p:nvSpPr>
        <p:spPr>
          <a:xfrm>
            <a:off x="1476375" y="3219450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19"/>
          </a:bodyPr>
          <a:lstStyle/>
          <a:p>
            <a:pPr algn="l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Accuracy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CB5ECE-3422-494D-A2C2-B4D448C13E7E}"/>
              </a:ext>
            </a:extLst>
          </p:cNvPr>
          <p:cNvSpPr>
            <a:spLocks noGrp="1"/>
          </p:cNvSpPr>
          <p:nvPr/>
        </p:nvSpPr>
        <p:spPr>
          <a:xfrm>
            <a:off x="3000375" y="2968943"/>
            <a:ext cx="676275" cy="45719"/>
          </a:xfrm>
          <a:prstGeom prst="rect">
            <a:avLst/>
          </a:prstGeom>
          <a:solidFill>
            <a:srgbClr val="D68A5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C023FB-21D9-4866-80AA-F317CE551DFB}"/>
              </a:ext>
            </a:extLst>
          </p:cNvPr>
          <p:cNvSpPr>
            <a:spLocks noGrp="1"/>
          </p:cNvSpPr>
          <p:nvPr/>
        </p:nvSpPr>
        <p:spPr>
          <a:xfrm>
            <a:off x="3619500" y="2947987"/>
            <a:ext cx="95250" cy="95250"/>
          </a:xfrm>
          <a:prstGeom prst="ellipse">
            <a:avLst/>
          </a:prstGeom>
          <a:solidFill>
            <a:srgbClr val="D68A52"/>
          </a:solidFill>
          <a:ln w="14288">
            <a:solidFill>
              <a:srgbClr val="D68A5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96894E-2759-43D0-B8F6-FBC301F7DAE9}"/>
              </a:ext>
            </a:extLst>
          </p:cNvPr>
          <p:cNvSpPr>
            <a:spLocks noGrp="1"/>
          </p:cNvSpPr>
          <p:nvPr/>
        </p:nvSpPr>
        <p:spPr>
          <a:xfrm>
            <a:off x="5000625" y="215265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20000"/>
          </a:bodyPr>
          <a:lstStyle/>
          <a:p>
            <a:pPr algn="ctr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비교한</a:t>
            </a:r>
            <a:r>
              <a:rPr sz="1500" b="1" dirty="0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  <a:endParaRPr sz="1500" b="1" dirty="0">
              <a:solidFill>
                <a:srgbClr val="1E28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52238EA-D3FC-4E56-B1B6-7F7106AF331B}"/>
              </a:ext>
            </a:extLst>
          </p:cNvPr>
          <p:cNvSpPr>
            <a:spLocks noGrp="1"/>
          </p:cNvSpPr>
          <p:nvPr/>
        </p:nvSpPr>
        <p:spPr>
          <a:xfrm>
            <a:off x="4238625" y="2667000"/>
            <a:ext cx="1952625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7C8481-4232-44AB-803F-278BC8D7F9A7}"/>
              </a:ext>
            </a:extLst>
          </p:cNvPr>
          <p:cNvSpPr>
            <a:spLocks noGrp="1"/>
          </p:cNvSpPr>
          <p:nvPr/>
        </p:nvSpPr>
        <p:spPr>
          <a:xfrm>
            <a:off x="4314825" y="2714625"/>
            <a:ext cx="18002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4초 · 8초 입력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4CAFB02D-A767-4C29-A67A-BE961A8370C7}"/>
              </a:ext>
            </a:extLst>
          </p:cNvPr>
          <p:cNvSpPr>
            <a:spLocks noGrp="1"/>
          </p:cNvSpPr>
          <p:nvPr/>
        </p:nvSpPr>
        <p:spPr>
          <a:xfrm>
            <a:off x="6429375" y="2667000"/>
            <a:ext cx="1952625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343E002-01FF-4B09-9B07-DCBE71282405}"/>
              </a:ext>
            </a:extLst>
          </p:cNvPr>
          <p:cNvSpPr>
            <a:spLocks noGrp="1"/>
          </p:cNvSpPr>
          <p:nvPr/>
        </p:nvSpPr>
        <p:spPr>
          <a:xfrm>
            <a:off x="6505575" y="2714625"/>
            <a:ext cx="18002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Last 2 · 4 · 6 layers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E386CDAD-3146-4489-9F41-E349CB1B44B8}"/>
              </a:ext>
            </a:extLst>
          </p:cNvPr>
          <p:cNvSpPr>
            <a:spLocks noGrp="1"/>
          </p:cNvSpPr>
          <p:nvPr/>
        </p:nvSpPr>
        <p:spPr>
          <a:xfrm>
            <a:off x="4238625" y="3219450"/>
            <a:ext cx="1952625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44498E-E25C-47E1-86FC-19EDD7D959D9}"/>
              </a:ext>
            </a:extLst>
          </p:cNvPr>
          <p:cNvSpPr>
            <a:spLocks noGrp="1"/>
          </p:cNvSpPr>
          <p:nvPr/>
        </p:nvSpPr>
        <p:spPr>
          <a:xfrm>
            <a:off x="4314825" y="3267075"/>
            <a:ext cx="18002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Learning Rate · Epoch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3E947822-BD7C-4FDF-B0EA-139ED2A6C3BE}"/>
              </a:ext>
            </a:extLst>
          </p:cNvPr>
          <p:cNvSpPr>
            <a:spLocks noGrp="1"/>
          </p:cNvSpPr>
          <p:nvPr/>
        </p:nvSpPr>
        <p:spPr>
          <a:xfrm>
            <a:off x="6429375" y="3219450"/>
            <a:ext cx="1952625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CDB4C9-5B53-4CB5-9FBE-6623CE83AE74}"/>
              </a:ext>
            </a:extLst>
          </p:cNvPr>
          <p:cNvSpPr>
            <a:spLocks noGrp="1"/>
          </p:cNvSpPr>
          <p:nvPr/>
        </p:nvSpPr>
        <p:spPr>
          <a:xfrm>
            <a:off x="6505575" y="3267075"/>
            <a:ext cx="18002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파형 증강 · SpecAugment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E9D1E755-3E4C-4684-B9DE-F2DEDD751D92}"/>
              </a:ext>
            </a:extLst>
          </p:cNvPr>
          <p:cNvSpPr>
            <a:spLocks noGrp="1"/>
          </p:cNvSpPr>
          <p:nvPr/>
        </p:nvSpPr>
        <p:spPr>
          <a:xfrm>
            <a:off x="4238625" y="3771900"/>
            <a:ext cx="1952625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DD09498-65AC-429A-BA14-CC3F5D99BF31}"/>
              </a:ext>
            </a:extLst>
          </p:cNvPr>
          <p:cNvSpPr>
            <a:spLocks noGrp="1"/>
          </p:cNvSpPr>
          <p:nvPr/>
        </p:nvSpPr>
        <p:spPr>
          <a:xfrm>
            <a:off x="4314825" y="3819525"/>
            <a:ext cx="18002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대상자 점수 집계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690FE978-D90B-4585-A251-20F7714348F5}"/>
              </a:ext>
            </a:extLst>
          </p:cNvPr>
          <p:cNvSpPr>
            <a:spLocks noGrp="1"/>
          </p:cNvSpPr>
          <p:nvPr/>
        </p:nvSpPr>
        <p:spPr>
          <a:xfrm>
            <a:off x="6429375" y="3771900"/>
            <a:ext cx="1952625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357859-7656-4276-8575-98DBF615A073}"/>
              </a:ext>
            </a:extLst>
          </p:cNvPr>
          <p:cNvSpPr>
            <a:spLocks noGrp="1"/>
          </p:cNvSpPr>
          <p:nvPr/>
        </p:nvSpPr>
        <p:spPr>
          <a:xfrm>
            <a:off x="6505575" y="3819525"/>
            <a:ext cx="18002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Seed 42 · 52 · 62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D1386A9-4D70-49DD-B01C-1DB612AD1685}"/>
              </a:ext>
            </a:extLst>
          </p:cNvPr>
          <p:cNvSpPr>
            <a:spLocks noGrp="1"/>
          </p:cNvSpPr>
          <p:nvPr/>
        </p:nvSpPr>
        <p:spPr>
          <a:xfrm>
            <a:off x="8858250" y="2971800"/>
            <a:ext cx="762000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12A6176-0C94-4B49-A47C-1E2BBD7FBF48}"/>
              </a:ext>
            </a:extLst>
          </p:cNvPr>
          <p:cNvSpPr>
            <a:spLocks noGrp="1"/>
          </p:cNvSpPr>
          <p:nvPr/>
        </p:nvSpPr>
        <p:spPr>
          <a:xfrm>
            <a:off x="9563100" y="293370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F8CB6F3-57B7-48DA-9D9B-90170408AD12}"/>
              </a:ext>
            </a:extLst>
          </p:cNvPr>
          <p:cNvSpPr>
            <a:spLocks noGrp="1"/>
          </p:cNvSpPr>
          <p:nvPr/>
        </p:nvSpPr>
        <p:spPr>
          <a:xfrm>
            <a:off x="9906000" y="219075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ctr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최종 AST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F3A3761-D377-4189-83C6-FFA2A1C42D62}"/>
              </a:ext>
            </a:extLst>
          </p:cNvPr>
          <p:cNvSpPr>
            <a:spLocks noGrp="1"/>
          </p:cNvSpPr>
          <p:nvPr/>
        </p:nvSpPr>
        <p:spPr>
          <a:xfrm>
            <a:off x="9620250" y="2524125"/>
            <a:ext cx="2190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320" lnSpcReduction="10000"/>
          </a:bodyPr>
          <a:lstStyle/>
          <a:p>
            <a:pPr algn="ctr">
              <a:defRPr sz="36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57.1%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91D142D-1BB7-4428-AB33-25D9A8EEF4A9}"/>
              </a:ext>
            </a:extLst>
          </p:cNvPr>
          <p:cNvSpPr>
            <a:spLocks noGrp="1"/>
          </p:cNvSpPr>
          <p:nvPr/>
        </p:nvSpPr>
        <p:spPr>
          <a:xfrm>
            <a:off x="9906000" y="3190875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19"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Accuracy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D78346C7-DB11-43CF-BADE-D44859DCB309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10477500" cy="1000125"/>
          </a:xfrm>
          <a:prstGeom prst="roundRect">
            <a:avLst>
              <a:gd name="adj" fmla="val 12381"/>
            </a:avLst>
          </a:prstGeom>
          <a:solidFill>
            <a:srgbClr val="1F5A3D"/>
          </a:solidFill>
          <a:ln w="14288">
            <a:solidFill>
              <a:srgbClr val="1F5A3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E5B24F6-F130-4E40-8DDE-56CA822CA6E3}"/>
              </a:ext>
            </a:extLst>
          </p:cNvPr>
          <p:cNvSpPr>
            <a:spLocks noGrp="1"/>
          </p:cNvSpPr>
          <p:nvPr/>
        </p:nvSpPr>
        <p:spPr>
          <a:xfrm>
            <a:off x="1143000" y="506730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667" lnSpcReduction="10000"/>
          </a:bodyPr>
          <a:lstStyle/>
          <a:p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Accuracy  +14.2%p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53FD9D6-88EF-4B3A-A323-8AE07990838F}"/>
              </a:ext>
            </a:extLst>
          </p:cNvPr>
          <p:cNvSpPr>
            <a:spLocks noGrp="1"/>
          </p:cNvSpPr>
          <p:nvPr/>
        </p:nvSpPr>
        <p:spPr>
          <a:xfrm>
            <a:off x="4286250" y="5067300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ctr"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위험군 Recall  40.0% → 80.0%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CD9CF7-2B0D-420A-A2D1-33548A974C8F}"/>
              </a:ext>
            </a:extLst>
          </p:cNvPr>
          <p:cNvSpPr>
            <a:spLocks noGrp="1"/>
          </p:cNvSpPr>
          <p:nvPr/>
        </p:nvSpPr>
        <p:spPr>
          <a:xfrm>
            <a:off x="8763000" y="506730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ROC-AUC  49.1%</a:t>
            </a:r>
          </a:p>
        </p:txBody>
      </p:sp>
    </p:spTree>
    <p:extLst>
      <p:ext uri="{BB962C8B-B14F-4D97-AF65-F5344CB8AC3E}">
        <p14:creationId xmlns:p14="http://schemas.microsoft.com/office/powerpoint/2010/main" val="1182237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D77307D6-9224-45FC-A7F6-836E557E463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F45B94-8A2A-4B88-B5D7-44E60657CEEF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FUSION TEST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22A5CD-8D19-4438-A528-E7AAB815E7F3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37C59C-B6A7-4745-9760-3C48545C2D32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15E2A0-98C4-4F7C-AD73-7E864A61702B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Fusion 입력 조합 비교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4B010A-C2DA-4048-AA56-4931E73B69E2}"/>
              </a:ext>
            </a:extLst>
          </p:cNvPr>
          <p:cNvSpPr>
            <a:spLocks noGrp="1"/>
          </p:cNvSpPr>
          <p:nvPr/>
        </p:nvSpPr>
        <p:spPr>
          <a:xfrm>
            <a:off x="809625" y="2095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오답 + 응답 지연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62BAAC-D9D8-4E97-978B-25BA4640770A}"/>
              </a:ext>
            </a:extLst>
          </p:cNvPr>
          <p:cNvSpPr>
            <a:spLocks noGrp="1"/>
          </p:cNvSpPr>
          <p:nvPr/>
        </p:nvSpPr>
        <p:spPr>
          <a:xfrm>
            <a:off x="3429000" y="2114550"/>
            <a:ext cx="4216527" cy="238125"/>
          </a:xfrm>
          <a:prstGeom prst="rect">
            <a:avLst/>
          </a:prstGeom>
          <a:solidFill>
            <a:srgbClr val="4B8A69"/>
          </a:solidFill>
          <a:ln w="14288">
            <a:solidFill>
              <a:srgbClr val="4B8A6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FE9123-FA77-4FBE-9820-FAFFA16DE00B}"/>
              </a:ext>
            </a:extLst>
          </p:cNvPr>
          <p:cNvSpPr>
            <a:spLocks noGrp="1"/>
          </p:cNvSpPr>
          <p:nvPr/>
        </p:nvSpPr>
        <p:spPr>
          <a:xfrm>
            <a:off x="8096250" y="2095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Accuracy 71.4%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FB8CBF-9034-4788-8769-F35F591C289A}"/>
              </a:ext>
            </a:extLst>
          </p:cNvPr>
          <p:cNvSpPr>
            <a:spLocks noGrp="1"/>
          </p:cNvSpPr>
          <p:nvPr/>
        </p:nvSpPr>
        <p:spPr>
          <a:xfrm>
            <a:off x="9810750" y="20955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AUC 85.5%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D11AE3-B75F-4A41-98DF-6420BC4A8BFA}"/>
              </a:ext>
            </a:extLst>
          </p:cNvPr>
          <p:cNvSpPr>
            <a:spLocks noGrp="1"/>
          </p:cNvSpPr>
          <p:nvPr/>
        </p:nvSpPr>
        <p:spPr>
          <a:xfrm>
            <a:off x="809625" y="29527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KcELECTRA logit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E191B2-4D16-44A8-BFC7-AEC64A814B0E}"/>
              </a:ext>
            </a:extLst>
          </p:cNvPr>
          <p:cNvSpPr>
            <a:spLocks noGrp="1"/>
          </p:cNvSpPr>
          <p:nvPr/>
        </p:nvSpPr>
        <p:spPr>
          <a:xfrm>
            <a:off x="3429000" y="2971800"/>
            <a:ext cx="4216527" cy="238125"/>
          </a:xfrm>
          <a:prstGeom prst="rect">
            <a:avLst/>
          </a:prstGeom>
          <a:solidFill>
            <a:srgbClr val="75A58A"/>
          </a:solidFill>
          <a:ln w="14288">
            <a:solidFill>
              <a:srgbClr val="75A58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DF2FA0-B0ED-44C5-8E0F-BDA72E529B56}"/>
              </a:ext>
            </a:extLst>
          </p:cNvPr>
          <p:cNvSpPr>
            <a:spLocks noGrp="1"/>
          </p:cNvSpPr>
          <p:nvPr/>
        </p:nvSpPr>
        <p:spPr>
          <a:xfrm>
            <a:off x="8096250" y="29527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1">
                <a:solidFill>
                  <a:srgbClr val="75A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75A58A"/>
                </a:solidFill>
                <a:latin typeface="Apple SD Gothic Neo"/>
                <a:ea typeface="Apple SD Gothic Neo"/>
                <a:cs typeface="Apple SD Gothic Neo"/>
              </a:rPr>
              <a:t>Accuracy 71.4%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18B8C1-4EDF-41F3-9761-FB3379D6A327}"/>
              </a:ext>
            </a:extLst>
          </p:cNvPr>
          <p:cNvSpPr>
            <a:spLocks noGrp="1"/>
          </p:cNvSpPr>
          <p:nvPr/>
        </p:nvSpPr>
        <p:spPr>
          <a:xfrm>
            <a:off x="9810750" y="295275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AUC 80.0%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5DD98E-09FC-4087-A69B-AA1A97355291}"/>
              </a:ext>
            </a:extLst>
          </p:cNvPr>
          <p:cNvSpPr>
            <a:spLocks noGrp="1"/>
          </p:cNvSpPr>
          <p:nvPr/>
        </p:nvSpPr>
        <p:spPr>
          <a:xfrm>
            <a:off x="809625" y="38100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KcELECTRA + 행동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330F27C-E711-4A64-8CF1-3A47BB430081}"/>
              </a:ext>
            </a:extLst>
          </p:cNvPr>
          <p:cNvSpPr>
            <a:spLocks noGrp="1"/>
          </p:cNvSpPr>
          <p:nvPr/>
        </p:nvSpPr>
        <p:spPr>
          <a:xfrm>
            <a:off x="3429000" y="3829050"/>
            <a:ext cx="4499991" cy="238125"/>
          </a:xfrm>
          <a:prstGeom prst="rect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78EEA95-FABA-44CB-8CBE-C9BF2C9FB661}"/>
              </a:ext>
            </a:extLst>
          </p:cNvPr>
          <p:cNvSpPr>
            <a:spLocks noGrp="1"/>
          </p:cNvSpPr>
          <p:nvPr/>
        </p:nvSpPr>
        <p:spPr>
          <a:xfrm>
            <a:off x="8096250" y="38100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Accuracy 76.2%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29BD41-65B8-4D5C-9D51-05D18ED8E827}"/>
              </a:ext>
            </a:extLst>
          </p:cNvPr>
          <p:cNvSpPr>
            <a:spLocks noGrp="1"/>
          </p:cNvSpPr>
          <p:nvPr/>
        </p:nvSpPr>
        <p:spPr>
          <a:xfrm>
            <a:off x="9810750" y="38100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AUC 82.7%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BC60F2-9E41-4148-80EB-77E38C87A98C}"/>
              </a:ext>
            </a:extLst>
          </p:cNvPr>
          <p:cNvSpPr>
            <a:spLocks noGrp="1"/>
          </p:cNvSpPr>
          <p:nvPr/>
        </p:nvSpPr>
        <p:spPr>
          <a:xfrm>
            <a:off x="809625" y="46672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전체 네 특징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1B542B3-E7FC-40FD-858C-CF7775982A23}"/>
              </a:ext>
            </a:extLst>
          </p:cNvPr>
          <p:cNvSpPr>
            <a:spLocks noGrp="1"/>
          </p:cNvSpPr>
          <p:nvPr/>
        </p:nvSpPr>
        <p:spPr>
          <a:xfrm>
            <a:off x="3429000" y="4686300"/>
            <a:ext cx="4499991" cy="238125"/>
          </a:xfrm>
          <a:prstGeom prst="rect">
            <a:avLst/>
          </a:prstGeom>
          <a:solidFill>
            <a:srgbClr val="1F5A3D"/>
          </a:solidFill>
          <a:ln w="14288">
            <a:solidFill>
              <a:srgbClr val="1F5A3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896B73-29A4-4748-9388-40A659144C98}"/>
              </a:ext>
            </a:extLst>
          </p:cNvPr>
          <p:cNvSpPr>
            <a:spLocks noGrp="1"/>
          </p:cNvSpPr>
          <p:nvPr/>
        </p:nvSpPr>
        <p:spPr>
          <a:xfrm>
            <a:off x="8096250" y="46672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Accuracy 76.2%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670E68-6583-43FE-BADD-F8FEF66D761F}"/>
              </a:ext>
            </a:extLst>
          </p:cNvPr>
          <p:cNvSpPr>
            <a:spLocks noGrp="1"/>
          </p:cNvSpPr>
          <p:nvPr/>
        </p:nvSpPr>
        <p:spPr>
          <a:xfrm>
            <a:off x="9810750" y="466725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AUC 81.8%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F34C75A4-660F-44CD-A039-7AEF67DCA897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9906000" cy="523875"/>
          </a:xfrm>
          <a:prstGeom prst="roundRect">
            <a:avLst>
              <a:gd name="adj" fmla="val 14545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D5F6A8-D911-4E87-8C6D-4D0B7215DA51}"/>
              </a:ext>
            </a:extLst>
          </p:cNvPr>
          <p:cNvSpPr>
            <a:spLocks noGrp="1"/>
          </p:cNvSpPr>
          <p:nvPr/>
        </p:nvSpPr>
        <p:spPr>
          <a:xfrm>
            <a:off x="1428750" y="584835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ctr">
              <a:defRPr sz="13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현재 내부 OOF 결과에서 AST 추가에 따른 정량적 향상은 확인되지 않음</a:t>
            </a:r>
          </a:p>
        </p:txBody>
      </p:sp>
    </p:spTree>
    <p:extLst>
      <p:ext uri="{BB962C8B-B14F-4D97-AF65-F5344CB8AC3E}">
        <p14:creationId xmlns:p14="http://schemas.microsoft.com/office/powerpoint/2010/main" val="1791715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824BCFDB-5442-417C-BC26-16288415C7D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B8A8AD-5234-4228-98D3-7756D620D364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FINAL MODEL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2BE6986-E4ED-419A-8D90-A37ED9D5828E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E0DD13-0065-4D93-B83D-830AC5815B3A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EDE0CF-AAB1-4B46-AA26-AB376CDD280E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최종 Fusion 성능과 위험 단계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2E8D54-9DE1-49AF-ADB0-3FDD187B06D3}"/>
              </a:ext>
            </a:extLst>
          </p:cNvPr>
          <p:cNvSpPr>
            <a:spLocks noGrp="1"/>
          </p:cNvSpPr>
          <p:nvPr/>
        </p:nvSpPr>
        <p:spPr>
          <a:xfrm>
            <a:off x="809625" y="20955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Accuracy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9023C9-9D2D-4E73-A183-BD70DDDDA91E}"/>
              </a:ext>
            </a:extLst>
          </p:cNvPr>
          <p:cNvSpPr>
            <a:spLocks noGrp="1"/>
          </p:cNvSpPr>
          <p:nvPr/>
        </p:nvSpPr>
        <p:spPr>
          <a:xfrm>
            <a:off x="809625" y="2400300"/>
            <a:ext cx="2000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76.2%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60F091-D64B-44E5-A820-30BE20758FC1}"/>
              </a:ext>
            </a:extLst>
          </p:cNvPr>
          <p:cNvSpPr>
            <a:spLocks noGrp="1"/>
          </p:cNvSpPr>
          <p:nvPr/>
        </p:nvSpPr>
        <p:spPr>
          <a:xfrm>
            <a:off x="3000375" y="2095500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Balanced Accuracy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63DD6D-C14C-4A11-883E-63D6A9C5ADC6}"/>
              </a:ext>
            </a:extLst>
          </p:cNvPr>
          <p:cNvSpPr>
            <a:spLocks noGrp="1"/>
          </p:cNvSpPr>
          <p:nvPr/>
        </p:nvSpPr>
        <p:spPr>
          <a:xfrm>
            <a:off x="3000375" y="240030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75.9%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2B7C86-641B-4035-BD6A-644A70CA7DFF}"/>
              </a:ext>
            </a:extLst>
          </p:cNvPr>
          <p:cNvSpPr>
            <a:spLocks noGrp="1"/>
          </p:cNvSpPr>
          <p:nvPr/>
        </p:nvSpPr>
        <p:spPr>
          <a:xfrm>
            <a:off x="5476875" y="20955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위험군 Recall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0097BE-BB95-43D7-9ECB-C4F13925BC3A}"/>
              </a:ext>
            </a:extLst>
          </p:cNvPr>
          <p:cNvSpPr>
            <a:spLocks noGrp="1"/>
          </p:cNvSpPr>
          <p:nvPr/>
        </p:nvSpPr>
        <p:spPr>
          <a:xfrm>
            <a:off x="5476875" y="2400300"/>
            <a:ext cx="2000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70.0%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7DC9AD-12CB-4B2D-B714-FEC3271F5A41}"/>
              </a:ext>
            </a:extLst>
          </p:cNvPr>
          <p:cNvSpPr>
            <a:spLocks noGrp="1"/>
          </p:cNvSpPr>
          <p:nvPr/>
        </p:nvSpPr>
        <p:spPr>
          <a:xfrm>
            <a:off x="7667625" y="20955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Specificity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97D3F7-1593-49BE-9E56-E2E3C8CAAABE}"/>
              </a:ext>
            </a:extLst>
          </p:cNvPr>
          <p:cNvSpPr>
            <a:spLocks noGrp="1"/>
          </p:cNvSpPr>
          <p:nvPr/>
        </p:nvSpPr>
        <p:spPr>
          <a:xfrm>
            <a:off x="7667625" y="2400300"/>
            <a:ext cx="2000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81.8%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F3B343-DB2C-417E-9571-E187528117CE}"/>
              </a:ext>
            </a:extLst>
          </p:cNvPr>
          <p:cNvSpPr>
            <a:spLocks noGrp="1"/>
          </p:cNvSpPr>
          <p:nvPr/>
        </p:nvSpPr>
        <p:spPr>
          <a:xfrm>
            <a:off x="9858375" y="20955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ROC-AUC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5EEFEF-9D26-4D2D-8A84-64C5F6EF9343}"/>
              </a:ext>
            </a:extLst>
          </p:cNvPr>
          <p:cNvSpPr>
            <a:spLocks noGrp="1"/>
          </p:cNvSpPr>
          <p:nvPr/>
        </p:nvSpPr>
        <p:spPr>
          <a:xfrm>
            <a:off x="9858375" y="2400300"/>
            <a:ext cx="1619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81.8%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249ABF2-7B7E-4695-8B1C-994657745D56}"/>
              </a:ext>
            </a:extLst>
          </p:cNvPr>
          <p:cNvSpPr>
            <a:spLocks noGrp="1"/>
          </p:cNvSpPr>
          <p:nvPr/>
        </p:nvSpPr>
        <p:spPr>
          <a:xfrm>
            <a:off x="857250" y="3810000"/>
            <a:ext cx="3143250" cy="1381125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023EF3-DA26-416D-8FB6-1EBB8CE01E7B}"/>
              </a:ext>
            </a:extLst>
          </p:cNvPr>
          <p:cNvSpPr>
            <a:spLocks noGrp="1"/>
          </p:cNvSpPr>
          <p:nvPr/>
        </p:nvSpPr>
        <p:spPr>
          <a:xfrm>
            <a:off x="1095375" y="41338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 algn="ctr">
              <a:defRPr sz="17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dirty="0" err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안정적</a:t>
            </a:r>
            <a:endParaRPr sz="1725" b="1" dirty="0">
              <a:solidFill>
                <a:srgbClr val="10AA5D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419204-0A14-44D7-8AC3-37662A8C972B}"/>
              </a:ext>
            </a:extLst>
          </p:cNvPr>
          <p:cNvSpPr>
            <a:spLocks noGrp="1"/>
          </p:cNvSpPr>
          <p:nvPr/>
        </p:nvSpPr>
        <p:spPr>
          <a:xfrm>
            <a:off x="1095375" y="46101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dirty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p &lt; 0.385929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6E7B48C-3C69-4492-A329-8B6CF435FC9F}"/>
              </a:ext>
            </a:extLst>
          </p:cNvPr>
          <p:cNvSpPr>
            <a:spLocks noGrp="1"/>
          </p:cNvSpPr>
          <p:nvPr/>
        </p:nvSpPr>
        <p:spPr>
          <a:xfrm>
            <a:off x="4524375" y="3810000"/>
            <a:ext cx="3143250" cy="1381125"/>
          </a:xfrm>
          <a:prstGeom prst="roundRect">
            <a:avLst>
              <a:gd name="adj" fmla="val 9655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235150-A9A7-41D9-908E-7B7FCADF094B}"/>
              </a:ext>
            </a:extLst>
          </p:cNvPr>
          <p:cNvSpPr>
            <a:spLocks noGrp="1"/>
          </p:cNvSpPr>
          <p:nvPr/>
        </p:nvSpPr>
        <p:spPr>
          <a:xfrm>
            <a:off x="4857750" y="41338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 algn="ctr">
              <a:defRPr sz="172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꾸준한</a:t>
            </a:r>
            <a:r>
              <a:rPr sz="1725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관찰</a:t>
            </a:r>
            <a:r>
              <a:rPr sz="1725" b="1" dirty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1" dirty="0" err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필요</a:t>
            </a:r>
            <a:endParaRPr sz="1725" b="1" dirty="0">
              <a:solidFill>
                <a:srgbClr val="1F5A3D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5FD233E-AE0E-49CE-B03F-10C0041F62E2}"/>
              </a:ext>
            </a:extLst>
          </p:cNvPr>
          <p:cNvSpPr>
            <a:spLocks noGrp="1"/>
          </p:cNvSpPr>
          <p:nvPr/>
        </p:nvSpPr>
        <p:spPr>
          <a:xfrm>
            <a:off x="4857750" y="46101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0.385929 ≤ p &lt; 0.806138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984D3835-091D-4DEB-B3A8-26B008480A40}"/>
              </a:ext>
            </a:extLst>
          </p:cNvPr>
          <p:cNvSpPr>
            <a:spLocks noGrp="1"/>
          </p:cNvSpPr>
          <p:nvPr/>
        </p:nvSpPr>
        <p:spPr>
          <a:xfrm>
            <a:off x="8191500" y="3810000"/>
            <a:ext cx="3143250" cy="1381125"/>
          </a:xfrm>
          <a:prstGeom prst="roundRect">
            <a:avLst>
              <a:gd name="adj" fmla="val 9655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11BE9EF-690F-4493-BCBF-FD3C9CCB1847}"/>
              </a:ext>
            </a:extLst>
          </p:cNvPr>
          <p:cNvSpPr>
            <a:spLocks noGrp="1"/>
          </p:cNvSpPr>
          <p:nvPr/>
        </p:nvSpPr>
        <p:spPr>
          <a:xfrm>
            <a:off x="8524875" y="41338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 algn="ctr"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 필요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39FA664-D26A-45B5-9A70-63148941FF83}"/>
              </a:ext>
            </a:extLst>
          </p:cNvPr>
          <p:cNvSpPr>
            <a:spLocks noGrp="1"/>
          </p:cNvSpPr>
          <p:nvPr/>
        </p:nvSpPr>
        <p:spPr>
          <a:xfrm>
            <a:off x="8524875" y="46101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 b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p ≥ 0.806138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648C49-35F3-45AE-A123-5CF8108376FE}"/>
              </a:ext>
            </a:extLst>
          </p:cNvPr>
          <p:cNvSpPr>
            <a:spLocks noGrp="1"/>
          </p:cNvSpPr>
          <p:nvPr/>
        </p:nvSpPr>
        <p:spPr>
          <a:xfrm>
            <a:off x="952500" y="5667375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1">
                <a:solidFill>
                  <a:srgbClr val="D68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68A52"/>
                </a:solidFill>
                <a:latin typeface="Apple SD Gothic Neo"/>
                <a:ea typeface="Apple SD Gothic Neo"/>
                <a:cs typeface="Apple SD Gothic Neo"/>
              </a:rPr>
              <a:t>내부 21명 OOF에서 탐색한 프로토타입 운영 기준이며 외부 검증된 임상 기준이 아닙니다</a:t>
            </a:r>
          </a:p>
        </p:txBody>
      </p:sp>
    </p:spTree>
    <p:extLst>
      <p:ext uri="{BB962C8B-B14F-4D97-AF65-F5344CB8AC3E}">
        <p14:creationId xmlns:p14="http://schemas.microsoft.com/office/powerpoint/2010/main" val="1837862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633631-140C-45F0-A9B8-09474C539FA5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B47EC2-E291-4C63-8C1E-6FD796DF5817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FEATURE 01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0DAFB9-A1F9-4205-93BE-A465E6538F8D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7FD9CE-19C7-41FB-84F1-8470147AE035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A22AF5-5C50-4456-9D12-71845BEF52A4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음향·언어·행동 정보를 함께 분석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C391EB-E4E6-47BC-ABF1-A5AB20B14705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하나의 발화를 발화 방식, 발화 내용, 응답 과정으로 나눠 살펴봅니다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B50D11-CF65-41E2-9ACF-84083ACF7352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1238250" cy="1238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02EE71C-C64B-4A90-BF9B-5623E8737E4C}"/>
              </a:ext>
            </a:extLst>
          </p:cNvPr>
          <p:cNvSpPr>
            <a:spLocks noGrp="1"/>
          </p:cNvSpPr>
          <p:nvPr/>
        </p:nvSpPr>
        <p:spPr>
          <a:xfrm>
            <a:off x="1143000" y="261937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dirty="0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95178B-0EC1-461A-A925-44C7768D18C4}"/>
              </a:ext>
            </a:extLst>
          </p:cNvPr>
          <p:cNvSpPr>
            <a:spLocks noGrp="1"/>
          </p:cNvSpPr>
          <p:nvPr/>
        </p:nvSpPr>
        <p:spPr>
          <a:xfrm>
            <a:off x="523875" y="37147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ctr">
              <a:def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발화 방식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F8952D-8455-440E-A05A-7F9D9D202012}"/>
              </a:ext>
            </a:extLst>
          </p:cNvPr>
          <p:cNvSpPr>
            <a:spLocks noGrp="1"/>
          </p:cNvSpPr>
          <p:nvPr/>
        </p:nvSpPr>
        <p:spPr>
          <a:xfrm>
            <a:off x="523875" y="41910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AST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38B22A-730C-4100-8495-DEBBD1CF8681}"/>
              </a:ext>
            </a:extLst>
          </p:cNvPr>
          <p:cNvSpPr>
            <a:spLocks noGrp="1"/>
          </p:cNvSpPr>
          <p:nvPr/>
        </p:nvSpPr>
        <p:spPr>
          <a:xfrm>
            <a:off x="523875" y="46196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시간·주파수 패턴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2CD634-FBE0-4505-A4C6-27232C6247C7}"/>
              </a:ext>
            </a:extLst>
          </p:cNvPr>
          <p:cNvSpPr>
            <a:spLocks noGrp="1"/>
          </p:cNvSpPr>
          <p:nvPr/>
        </p:nvSpPr>
        <p:spPr>
          <a:xfrm>
            <a:off x="2571750" y="2762250"/>
            <a:ext cx="619125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56F6217-2F7D-4F27-A5C2-DC37F186B19A}"/>
              </a:ext>
            </a:extLst>
          </p:cNvPr>
          <p:cNvSpPr>
            <a:spLocks noGrp="1"/>
          </p:cNvSpPr>
          <p:nvPr/>
        </p:nvSpPr>
        <p:spPr>
          <a:xfrm>
            <a:off x="3133725" y="272415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C182057-1FAA-449F-828D-60472D15D221}"/>
              </a:ext>
            </a:extLst>
          </p:cNvPr>
          <p:cNvSpPr>
            <a:spLocks noGrp="1"/>
          </p:cNvSpPr>
          <p:nvPr/>
        </p:nvSpPr>
        <p:spPr>
          <a:xfrm>
            <a:off x="4048125" y="2143125"/>
            <a:ext cx="1238250" cy="1238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7CFD828-F3CE-4838-97DE-BC4F951CF28D}"/>
              </a:ext>
            </a:extLst>
          </p:cNvPr>
          <p:cNvSpPr>
            <a:spLocks noGrp="1"/>
          </p:cNvSpPr>
          <p:nvPr/>
        </p:nvSpPr>
        <p:spPr>
          <a:xfrm>
            <a:off x="4048125" y="261937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68A5C8-4033-4BA5-85AB-A7FC6392703A}"/>
              </a:ext>
            </a:extLst>
          </p:cNvPr>
          <p:cNvSpPr>
            <a:spLocks noGrp="1"/>
          </p:cNvSpPr>
          <p:nvPr/>
        </p:nvSpPr>
        <p:spPr>
          <a:xfrm>
            <a:off x="3429000" y="37147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ctr">
              <a:def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발화 내용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E45BE6-33D8-44EB-94AE-D497708AAE75}"/>
              </a:ext>
            </a:extLst>
          </p:cNvPr>
          <p:cNvSpPr>
            <a:spLocks noGrp="1"/>
          </p:cNvSpPr>
          <p:nvPr/>
        </p:nvSpPr>
        <p:spPr>
          <a:xfrm>
            <a:off x="3429000" y="41910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STT + KcELECTRA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B72B9A-8CAE-4417-9064-B1E2EF1ADBDC}"/>
              </a:ext>
            </a:extLst>
          </p:cNvPr>
          <p:cNvSpPr>
            <a:spLocks noGrp="1"/>
          </p:cNvSpPr>
          <p:nvPr/>
        </p:nvSpPr>
        <p:spPr>
          <a:xfrm>
            <a:off x="3429000" y="46196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질문·답변 전사문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AE72E0-33F6-4250-9A58-0607DA57DD7F}"/>
              </a:ext>
            </a:extLst>
          </p:cNvPr>
          <p:cNvSpPr>
            <a:spLocks noGrp="1"/>
          </p:cNvSpPr>
          <p:nvPr/>
        </p:nvSpPr>
        <p:spPr>
          <a:xfrm>
            <a:off x="5476875" y="2762250"/>
            <a:ext cx="619125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DBC223C-41D6-406E-8268-DB1B7D5AE8CE}"/>
              </a:ext>
            </a:extLst>
          </p:cNvPr>
          <p:cNvSpPr>
            <a:spLocks noGrp="1"/>
          </p:cNvSpPr>
          <p:nvPr/>
        </p:nvSpPr>
        <p:spPr>
          <a:xfrm>
            <a:off x="6038850" y="272415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F701AFA-2623-4B3E-847F-F937B708CD44}"/>
              </a:ext>
            </a:extLst>
          </p:cNvPr>
          <p:cNvSpPr>
            <a:spLocks noGrp="1"/>
          </p:cNvSpPr>
          <p:nvPr/>
        </p:nvSpPr>
        <p:spPr>
          <a:xfrm>
            <a:off x="6953250" y="2143125"/>
            <a:ext cx="1238250" cy="1238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93BAEB-946F-4A5D-89C6-95A98F113FE2}"/>
              </a:ext>
            </a:extLst>
          </p:cNvPr>
          <p:cNvSpPr>
            <a:spLocks noGrp="1"/>
          </p:cNvSpPr>
          <p:nvPr/>
        </p:nvSpPr>
        <p:spPr>
          <a:xfrm>
            <a:off x="6953250" y="261937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E2E060E-9910-4584-8FEF-832385642401}"/>
              </a:ext>
            </a:extLst>
          </p:cNvPr>
          <p:cNvSpPr>
            <a:spLocks noGrp="1"/>
          </p:cNvSpPr>
          <p:nvPr/>
        </p:nvSpPr>
        <p:spPr>
          <a:xfrm>
            <a:off x="6334125" y="37147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ctr">
              <a:def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응답 과정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0D9EA56-D2AE-4829-8FA0-6478113FD0B4}"/>
              </a:ext>
            </a:extLst>
          </p:cNvPr>
          <p:cNvSpPr>
            <a:spLocks noGrp="1"/>
          </p:cNvSpPr>
          <p:nvPr/>
        </p:nvSpPr>
        <p:spPr>
          <a:xfrm>
            <a:off x="6334125" y="41910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행동 특징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A15281-CF03-4C48-B65E-5152C6263CAC}"/>
              </a:ext>
            </a:extLst>
          </p:cNvPr>
          <p:cNvSpPr>
            <a:spLocks noGrp="1"/>
          </p:cNvSpPr>
          <p:nvPr/>
        </p:nvSpPr>
        <p:spPr>
          <a:xfrm>
            <a:off x="6334125" y="46196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정오 정보와 응답 지연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141C785-C322-472E-AE9A-32E4D757F3E9}"/>
              </a:ext>
            </a:extLst>
          </p:cNvPr>
          <p:cNvSpPr>
            <a:spLocks noGrp="1"/>
          </p:cNvSpPr>
          <p:nvPr/>
        </p:nvSpPr>
        <p:spPr>
          <a:xfrm>
            <a:off x="8382000" y="2762250"/>
            <a:ext cx="619125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06558B1D-C8C2-4EDD-9D7F-3A720D258A3F}"/>
              </a:ext>
            </a:extLst>
          </p:cNvPr>
          <p:cNvSpPr>
            <a:spLocks noGrp="1"/>
          </p:cNvSpPr>
          <p:nvPr/>
        </p:nvSpPr>
        <p:spPr>
          <a:xfrm>
            <a:off x="8943975" y="272415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5506D07-0E6F-4598-9508-F66BEDE3A744}"/>
              </a:ext>
            </a:extLst>
          </p:cNvPr>
          <p:cNvSpPr>
            <a:spLocks noGrp="1"/>
          </p:cNvSpPr>
          <p:nvPr/>
        </p:nvSpPr>
        <p:spPr>
          <a:xfrm>
            <a:off x="9858375" y="2143125"/>
            <a:ext cx="1238250" cy="1238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4F76E07-8D47-459B-9113-E496681708D8}"/>
              </a:ext>
            </a:extLst>
          </p:cNvPr>
          <p:cNvSpPr>
            <a:spLocks noGrp="1"/>
          </p:cNvSpPr>
          <p:nvPr/>
        </p:nvSpPr>
        <p:spPr>
          <a:xfrm>
            <a:off x="9858375" y="261937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03357E-69C6-49CB-BDBC-CCFB292157E2}"/>
              </a:ext>
            </a:extLst>
          </p:cNvPr>
          <p:cNvSpPr>
            <a:spLocks noGrp="1"/>
          </p:cNvSpPr>
          <p:nvPr/>
        </p:nvSpPr>
        <p:spPr>
          <a:xfrm>
            <a:off x="9239250" y="37147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ctr">
              <a:def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위험 신호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F43B39-5750-4A4E-923E-2C2456EE99AE}"/>
              </a:ext>
            </a:extLst>
          </p:cNvPr>
          <p:cNvSpPr>
            <a:spLocks noGrp="1"/>
          </p:cNvSpPr>
          <p:nvPr/>
        </p:nvSpPr>
        <p:spPr>
          <a:xfrm>
            <a:off x="9239250" y="41910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Fusion Model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741380C-A8FF-4B7C-9B39-B247AB1FE63E}"/>
              </a:ext>
            </a:extLst>
          </p:cNvPr>
          <p:cNvSpPr>
            <a:spLocks noGrp="1"/>
          </p:cNvSpPr>
          <p:nvPr/>
        </p:nvSpPr>
        <p:spPr>
          <a:xfrm>
            <a:off x="9239250" y="46196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연속형 위험 점수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209844F5-8220-4C21-ACCA-AE988B720CB8}"/>
              </a:ext>
            </a:extLst>
          </p:cNvPr>
          <p:cNvSpPr>
            <a:spLocks noGrp="1"/>
          </p:cNvSpPr>
          <p:nvPr/>
        </p:nvSpPr>
        <p:spPr>
          <a:xfrm>
            <a:off x="1666875" y="5476875"/>
            <a:ext cx="8858250" cy="571500"/>
          </a:xfrm>
          <a:prstGeom prst="roundRect">
            <a:avLst>
              <a:gd name="adj" fmla="val 13333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E698A6A-BE84-47D4-9346-B3CC2F01FE13}"/>
              </a:ext>
            </a:extLst>
          </p:cNvPr>
          <p:cNvSpPr>
            <a:spLocks noGrp="1"/>
          </p:cNvSpPr>
          <p:nvPr/>
        </p:nvSpPr>
        <p:spPr>
          <a:xfrm>
            <a:off x="1952625" y="5629275"/>
            <a:ext cx="8286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ctr">
              <a:defRPr sz="13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음향 특징, 언어 특징, 문항별 정오 정보와 응답 지연을 Logistic Regression으로 결합</a:t>
            </a:r>
          </a:p>
        </p:txBody>
      </p:sp>
    </p:spTree>
    <p:extLst>
      <p:ext uri="{BB962C8B-B14F-4D97-AF65-F5344CB8AC3E}">
        <p14:creationId xmlns:p14="http://schemas.microsoft.com/office/powerpoint/2010/main" val="11981264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B9B332B5-A853-44FA-93B3-D15522327BF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6DCE199-E651-4474-92EA-E274C78618E0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FEATURE 02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0A671A-C032-4F97-A4EE-7920A55EADCF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CCEDA8-B9D1-481C-B6D6-3B75E8348CC4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A56DB1-A5E7-4423-9383-FA95E6D666E7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개인 내 변화 중심의 반복 관리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104B40-6CD8-47C0-AD90-8418732F3D39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한 번의 결과보다 같은 사용자의 변화 흐름을 확인합니다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B0CA67-FD25-4405-AE42-6FC2B711A7AD}"/>
              </a:ext>
            </a:extLst>
          </p:cNvPr>
          <p:cNvSpPr>
            <a:spLocks noGrp="1"/>
          </p:cNvSpPr>
          <p:nvPr/>
        </p:nvSpPr>
        <p:spPr>
          <a:xfrm>
            <a:off x="809625" y="21431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검사 결과에 영향을 줄 수 있는 요인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C87E940-7053-4C3E-9E38-F5ECD3F3E173}"/>
              </a:ext>
            </a:extLst>
          </p:cNvPr>
          <p:cNvSpPr>
            <a:spLocks noGrp="1"/>
          </p:cNvSpPr>
          <p:nvPr/>
        </p:nvSpPr>
        <p:spPr>
          <a:xfrm>
            <a:off x="809625" y="2571750"/>
            <a:ext cx="1190625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6D95D5-C17D-4B8E-9F0E-8A9B8E6FB35C}"/>
              </a:ext>
            </a:extLst>
          </p:cNvPr>
          <p:cNvSpPr>
            <a:spLocks noGrp="1"/>
          </p:cNvSpPr>
          <p:nvPr/>
        </p:nvSpPr>
        <p:spPr>
          <a:xfrm>
            <a:off x="885825" y="2619375"/>
            <a:ext cx="10382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피로도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7DAC5A1-DEF1-4377-80C3-948F693C0A65}"/>
              </a:ext>
            </a:extLst>
          </p:cNvPr>
          <p:cNvSpPr>
            <a:spLocks noGrp="1"/>
          </p:cNvSpPr>
          <p:nvPr/>
        </p:nvSpPr>
        <p:spPr>
          <a:xfrm>
            <a:off x="2238375" y="2571750"/>
            <a:ext cx="1190625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A31200-05ED-4AF0-8C73-C9B2B4FC6031}"/>
              </a:ext>
            </a:extLst>
          </p:cNvPr>
          <p:cNvSpPr>
            <a:spLocks noGrp="1"/>
          </p:cNvSpPr>
          <p:nvPr/>
        </p:nvSpPr>
        <p:spPr>
          <a:xfrm>
            <a:off x="2314575" y="2619375"/>
            <a:ext cx="10382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심리상태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A7EACF0-3081-4348-AF16-1E6FD7251494}"/>
              </a:ext>
            </a:extLst>
          </p:cNvPr>
          <p:cNvSpPr>
            <a:spLocks noGrp="1"/>
          </p:cNvSpPr>
          <p:nvPr/>
        </p:nvSpPr>
        <p:spPr>
          <a:xfrm>
            <a:off x="3667125" y="2571750"/>
            <a:ext cx="1190625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037523-3843-4723-9133-3C33B7B5368C}"/>
              </a:ext>
            </a:extLst>
          </p:cNvPr>
          <p:cNvSpPr>
            <a:spLocks noGrp="1"/>
          </p:cNvSpPr>
          <p:nvPr/>
        </p:nvSpPr>
        <p:spPr>
          <a:xfrm>
            <a:off x="3743325" y="2619375"/>
            <a:ext cx="10382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청력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5DDA068-A851-44E1-ABB8-B64870A2A396}"/>
              </a:ext>
            </a:extLst>
          </p:cNvPr>
          <p:cNvSpPr>
            <a:spLocks noGrp="1"/>
          </p:cNvSpPr>
          <p:nvPr/>
        </p:nvSpPr>
        <p:spPr>
          <a:xfrm>
            <a:off x="5095875" y="2571750"/>
            <a:ext cx="1190625" cy="323850"/>
          </a:xfrm>
          <a:prstGeom prst="roundRect">
            <a:avLst>
              <a:gd name="adj" fmla="val 23529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1853C7-3DF8-4E5C-BE62-320557BC6D67}"/>
              </a:ext>
            </a:extLst>
          </p:cNvPr>
          <p:cNvSpPr>
            <a:spLocks noGrp="1"/>
          </p:cNvSpPr>
          <p:nvPr/>
        </p:nvSpPr>
        <p:spPr>
          <a:xfrm>
            <a:off x="5172075" y="2619375"/>
            <a:ext cx="10382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주변 소음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E3F3078A-6BEE-4C6E-9E45-092B4C97ED81}"/>
              </a:ext>
            </a:extLst>
          </p:cNvPr>
          <p:cNvSpPr>
            <a:spLocks noGrp="1"/>
          </p:cNvSpPr>
          <p:nvPr/>
        </p:nvSpPr>
        <p:spPr>
          <a:xfrm>
            <a:off x="6524625" y="2571750"/>
            <a:ext cx="1190625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80A3E0-C7E7-443A-91F8-EC1FBB588469}"/>
              </a:ext>
            </a:extLst>
          </p:cNvPr>
          <p:cNvSpPr>
            <a:spLocks noGrp="1"/>
          </p:cNvSpPr>
          <p:nvPr/>
        </p:nvSpPr>
        <p:spPr>
          <a:xfrm>
            <a:off x="6600825" y="2619375"/>
            <a:ext cx="10382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검사 환경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D3C168-1119-4F4A-91C6-181B6C4AADD6}"/>
              </a:ext>
            </a:extLst>
          </p:cNvPr>
          <p:cNvSpPr>
            <a:spLocks noGrp="1"/>
          </p:cNvSpPr>
          <p:nvPr/>
        </p:nvSpPr>
        <p:spPr>
          <a:xfrm>
            <a:off x="1381125" y="3810000"/>
            <a:ext cx="9429750" cy="3810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D000C1C-C2C0-4089-98FD-E7B161330498}"/>
              </a:ext>
            </a:extLst>
          </p:cNvPr>
          <p:cNvSpPr>
            <a:spLocks noGrp="1"/>
          </p:cNvSpPr>
          <p:nvPr/>
        </p:nvSpPr>
        <p:spPr>
          <a:xfrm>
            <a:off x="1524000" y="3543300"/>
            <a:ext cx="552450" cy="552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C6AD68-78F0-47EC-87F4-75FCEF7C6364}"/>
              </a:ext>
            </a:extLst>
          </p:cNvPr>
          <p:cNvSpPr>
            <a:spLocks noGrp="1"/>
          </p:cNvSpPr>
          <p:nvPr/>
        </p:nvSpPr>
        <p:spPr>
          <a:xfrm>
            <a:off x="1524000" y="369570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ctr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8BA878-CF82-4B8E-8BA8-D4D24E7FEC4E}"/>
              </a:ext>
            </a:extLst>
          </p:cNvPr>
          <p:cNvSpPr>
            <a:spLocks noGrp="1"/>
          </p:cNvSpPr>
          <p:nvPr/>
        </p:nvSpPr>
        <p:spPr>
          <a:xfrm>
            <a:off x="1190625" y="4333875"/>
            <a:ext cx="12192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검사 1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2BEEDC-F04D-45B9-8912-B068A571C86F}"/>
              </a:ext>
            </a:extLst>
          </p:cNvPr>
          <p:cNvSpPr>
            <a:spLocks noGrp="1"/>
          </p:cNvSpPr>
          <p:nvPr/>
        </p:nvSpPr>
        <p:spPr>
          <a:xfrm>
            <a:off x="1000125" y="4714875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기준 결과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D5418B9-A680-40E8-918F-7663A15D6714}"/>
              </a:ext>
            </a:extLst>
          </p:cNvPr>
          <p:cNvSpPr>
            <a:spLocks noGrp="1"/>
          </p:cNvSpPr>
          <p:nvPr/>
        </p:nvSpPr>
        <p:spPr>
          <a:xfrm>
            <a:off x="4333875" y="3543300"/>
            <a:ext cx="552450" cy="552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10C51C-74C4-4D10-931D-F1646493B319}"/>
              </a:ext>
            </a:extLst>
          </p:cNvPr>
          <p:cNvSpPr>
            <a:spLocks noGrp="1"/>
          </p:cNvSpPr>
          <p:nvPr/>
        </p:nvSpPr>
        <p:spPr>
          <a:xfrm>
            <a:off x="4333875" y="369570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ctr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FEF179-C72B-4523-86DA-CD7DE1669738}"/>
              </a:ext>
            </a:extLst>
          </p:cNvPr>
          <p:cNvSpPr>
            <a:spLocks noGrp="1"/>
          </p:cNvSpPr>
          <p:nvPr/>
        </p:nvSpPr>
        <p:spPr>
          <a:xfrm>
            <a:off x="4000500" y="4333875"/>
            <a:ext cx="12192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검사 2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2F00CCA-CCE6-41C3-847A-91690B36E014}"/>
              </a:ext>
            </a:extLst>
          </p:cNvPr>
          <p:cNvSpPr>
            <a:spLocks noGrp="1"/>
          </p:cNvSpPr>
          <p:nvPr/>
        </p:nvSpPr>
        <p:spPr>
          <a:xfrm>
            <a:off x="3810000" y="4714875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일시적 변화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6CA6EEC-6C77-4854-8769-E7B8BA818C26}"/>
              </a:ext>
            </a:extLst>
          </p:cNvPr>
          <p:cNvSpPr>
            <a:spLocks noGrp="1"/>
          </p:cNvSpPr>
          <p:nvPr/>
        </p:nvSpPr>
        <p:spPr>
          <a:xfrm>
            <a:off x="7143750" y="3543300"/>
            <a:ext cx="552450" cy="552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8718B24-5F69-4FBF-B75D-72B6D55E7727}"/>
              </a:ext>
            </a:extLst>
          </p:cNvPr>
          <p:cNvSpPr>
            <a:spLocks noGrp="1"/>
          </p:cNvSpPr>
          <p:nvPr/>
        </p:nvSpPr>
        <p:spPr>
          <a:xfrm>
            <a:off x="7143750" y="369570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ctr">
              <a:def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238AED1-9716-4A4E-B489-C839AC70458C}"/>
              </a:ext>
            </a:extLst>
          </p:cNvPr>
          <p:cNvSpPr>
            <a:spLocks noGrp="1"/>
          </p:cNvSpPr>
          <p:nvPr/>
        </p:nvSpPr>
        <p:spPr>
          <a:xfrm>
            <a:off x="6810375" y="4333875"/>
            <a:ext cx="12192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검사 3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F57AA2D-657F-4159-A0A2-0F5EE0D0CB83}"/>
              </a:ext>
            </a:extLst>
          </p:cNvPr>
          <p:cNvSpPr>
            <a:spLocks noGrp="1"/>
          </p:cNvSpPr>
          <p:nvPr/>
        </p:nvSpPr>
        <p:spPr>
          <a:xfrm>
            <a:off x="6619875" y="4714875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반복 신호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4B29FAB-510E-40F2-B1CA-12FF34DDC9B6}"/>
              </a:ext>
            </a:extLst>
          </p:cNvPr>
          <p:cNvSpPr>
            <a:spLocks noGrp="1"/>
          </p:cNvSpPr>
          <p:nvPr/>
        </p:nvSpPr>
        <p:spPr>
          <a:xfrm>
            <a:off x="9953625" y="3543300"/>
            <a:ext cx="552450" cy="5524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7F63757-B326-413C-A1B6-D7158E096F68}"/>
              </a:ext>
            </a:extLst>
          </p:cNvPr>
          <p:cNvSpPr>
            <a:spLocks noGrp="1"/>
          </p:cNvSpPr>
          <p:nvPr/>
        </p:nvSpPr>
        <p:spPr>
          <a:xfrm>
            <a:off x="9953625" y="369570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9713539-A447-4AED-B156-9F8B13807DEB}"/>
              </a:ext>
            </a:extLst>
          </p:cNvPr>
          <p:cNvSpPr>
            <a:spLocks noGrp="1"/>
          </p:cNvSpPr>
          <p:nvPr/>
        </p:nvSpPr>
        <p:spPr>
          <a:xfrm>
            <a:off x="9620250" y="4333875"/>
            <a:ext cx="12192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09149FF-6395-4F55-96E2-2E315D8756D3}"/>
              </a:ext>
            </a:extLst>
          </p:cNvPr>
          <p:cNvSpPr>
            <a:spLocks noGrp="1"/>
          </p:cNvSpPr>
          <p:nvPr/>
        </p:nvSpPr>
        <p:spPr>
          <a:xfrm>
            <a:off x="9429750" y="4714875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변화 추이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5AABD5AC-B640-4BC8-B3F0-084EB2649091}"/>
              </a:ext>
            </a:extLst>
          </p:cNvPr>
          <p:cNvSpPr>
            <a:spLocks noGrp="1"/>
          </p:cNvSpPr>
          <p:nvPr/>
        </p:nvSpPr>
        <p:spPr>
          <a:xfrm>
            <a:off x="1333500" y="5476875"/>
            <a:ext cx="9525000" cy="609600"/>
          </a:xfrm>
          <a:prstGeom prst="roundRect">
            <a:avLst>
              <a:gd name="adj" fmla="val 12500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C71A5C8-AF6E-4074-A9CC-218982CCBD5A}"/>
              </a:ext>
            </a:extLst>
          </p:cNvPr>
          <p:cNvSpPr>
            <a:spLocks noGrp="1"/>
          </p:cNvSpPr>
          <p:nvPr/>
        </p:nvSpPr>
        <p:spPr>
          <a:xfrm>
            <a:off x="1619250" y="5629275"/>
            <a:ext cx="8953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이전 결과와 현재 결과를 함께 제공해 일시적인 이상과 반복되는 변화 신호를 구분</a:t>
            </a:r>
          </a:p>
        </p:txBody>
      </p:sp>
    </p:spTree>
    <p:extLst>
      <p:ext uri="{BB962C8B-B14F-4D97-AF65-F5344CB8AC3E}">
        <p14:creationId xmlns:p14="http://schemas.microsoft.com/office/powerpoint/2010/main" val="14171448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C29A6C7-CB69-447F-9403-A0C594A1691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DF655D-C703-4265-89B9-9BCC28C5D297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FEATURE 03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585FCC-774E-44BD-9117-D27E5E23ABBC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4DC44B-EB45-4CDB-8612-03EB0E8EEE1A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35C9A4-22F0-4D0C-A037-562CB948577B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성장형 반려 캐릭터를 통한 지속적 상호작용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F393DA-E411-4E5B-B51F-D51D5337507C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팥이는 반복적인 인지건강 관리 참여를 돕는 HCI 요소입니다</a:t>
            </a: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022" y="2930305"/>
            <a:ext cx="1714500" cy="1445903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81660" y="2640837"/>
            <a:ext cx="1621437" cy="1774249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61620" y="2519971"/>
            <a:ext cx="1714500" cy="1901641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34643" y="2035999"/>
            <a:ext cx="1627785" cy="2333625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061587" y="2142567"/>
            <a:ext cx="1711963" cy="2333625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972710" y="2809996"/>
            <a:ext cx="1714500" cy="173374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B70F7B-1401-46B0-862D-60F088C42AB7}"/>
              </a:ext>
            </a:extLst>
          </p:cNvPr>
          <p:cNvSpPr>
            <a:spLocks noGrp="1"/>
          </p:cNvSpPr>
          <p:nvPr/>
        </p:nvSpPr>
        <p:spPr>
          <a:xfrm>
            <a:off x="762000" y="4643561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반복 이용에 따라 변화하는 팥이의 6단계 성장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1FFE07-204F-4067-B451-4F99A9E31BAD}"/>
              </a:ext>
            </a:extLst>
          </p:cNvPr>
          <p:cNvSpPr>
            <a:spLocks noGrp="1"/>
          </p:cNvSpPr>
          <p:nvPr/>
        </p:nvSpPr>
        <p:spPr>
          <a:xfrm>
            <a:off x="762000" y="5129990"/>
            <a:ext cx="106680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ADCE04C-F719-475F-BDA6-3D81C0C98C5D}"/>
              </a:ext>
            </a:extLst>
          </p:cNvPr>
          <p:cNvSpPr>
            <a:spLocks noGrp="1"/>
          </p:cNvSpPr>
          <p:nvPr/>
        </p:nvSpPr>
        <p:spPr>
          <a:xfrm>
            <a:off x="762000" y="5444315"/>
            <a:ext cx="476250" cy="476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4C12A3-8995-43C8-A3D4-F56CB5D2B896}"/>
              </a:ext>
            </a:extLst>
          </p:cNvPr>
          <p:cNvSpPr>
            <a:spLocks noGrp="1"/>
          </p:cNvSpPr>
          <p:nvPr/>
        </p:nvSpPr>
        <p:spPr>
          <a:xfrm>
            <a:off x="762000" y="557766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 algn="ctr">
              <a:defRPr sz="9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B929F0-19B5-429A-AF55-96944E711E3F}"/>
              </a:ext>
            </a:extLst>
          </p:cNvPr>
          <p:cNvSpPr>
            <a:spLocks noGrp="1"/>
          </p:cNvSpPr>
          <p:nvPr/>
        </p:nvSpPr>
        <p:spPr>
          <a:xfrm>
            <a:off x="1428750" y="541574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20000"/>
          </a:bodyPr>
          <a:lstStyle/>
          <a:p>
            <a:pPr algn="l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검사 안내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AA0B47-67C2-4F17-9F6E-C022FC0E3DE1}"/>
              </a:ext>
            </a:extLst>
          </p:cNvPr>
          <p:cNvSpPr>
            <a:spLocks noGrp="1"/>
          </p:cNvSpPr>
          <p:nvPr/>
        </p:nvSpPr>
        <p:spPr>
          <a:xfrm>
            <a:off x="1428750" y="5758640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질문 전달과 진행 상태를 안내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D49D6D5-AEE2-4DDB-B7C9-4C063A5DC2E0}"/>
              </a:ext>
            </a:extLst>
          </p:cNvPr>
          <p:cNvSpPr>
            <a:spLocks noGrp="1"/>
          </p:cNvSpPr>
          <p:nvPr/>
        </p:nvSpPr>
        <p:spPr>
          <a:xfrm>
            <a:off x="4476750" y="5444315"/>
            <a:ext cx="476250" cy="476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BC336F0-8AE1-42BB-B85D-50484204530D}"/>
              </a:ext>
            </a:extLst>
          </p:cNvPr>
          <p:cNvSpPr>
            <a:spLocks noGrp="1"/>
          </p:cNvSpPr>
          <p:nvPr/>
        </p:nvSpPr>
        <p:spPr>
          <a:xfrm>
            <a:off x="4476750" y="557766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 algn="ctr">
              <a:defRPr sz="9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825E17-3079-4E4D-A0E9-431416B805B5}"/>
              </a:ext>
            </a:extLst>
          </p:cNvPr>
          <p:cNvSpPr>
            <a:spLocks noGrp="1"/>
          </p:cNvSpPr>
          <p:nvPr/>
        </p:nvSpPr>
        <p:spPr>
          <a:xfrm>
            <a:off x="5143500" y="541574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20000"/>
          </a:bodyPr>
          <a:lstStyle/>
          <a:p>
            <a:pPr algn="l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음성 문답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9B240B0-CCFF-4A18-9786-582882B82C73}"/>
              </a:ext>
            </a:extLst>
          </p:cNvPr>
          <p:cNvSpPr>
            <a:spLocks noGrp="1"/>
          </p:cNvSpPr>
          <p:nvPr/>
        </p:nvSpPr>
        <p:spPr>
          <a:xfrm>
            <a:off x="5143500" y="5758640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사용자의 답변과 일상 대화를 연결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F009B07-F99F-4C0E-8BE1-BC22E313F0DF}"/>
              </a:ext>
            </a:extLst>
          </p:cNvPr>
          <p:cNvSpPr>
            <a:spLocks noGrp="1"/>
          </p:cNvSpPr>
          <p:nvPr/>
        </p:nvSpPr>
        <p:spPr>
          <a:xfrm>
            <a:off x="8191500" y="5444315"/>
            <a:ext cx="476250" cy="476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72E8A5-29A3-48F9-B944-9E4110BBF8E5}"/>
              </a:ext>
            </a:extLst>
          </p:cNvPr>
          <p:cNvSpPr>
            <a:spLocks noGrp="1"/>
          </p:cNvSpPr>
          <p:nvPr/>
        </p:nvSpPr>
        <p:spPr>
          <a:xfrm>
            <a:off x="8191500" y="557766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8769F0-521F-4AC7-AC15-AAE19AFC5179}"/>
              </a:ext>
            </a:extLst>
          </p:cNvPr>
          <p:cNvSpPr>
            <a:spLocks noGrp="1"/>
          </p:cNvSpPr>
          <p:nvPr/>
        </p:nvSpPr>
        <p:spPr>
          <a:xfrm>
            <a:off x="8858250" y="541574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20000"/>
          </a:bodyPr>
          <a:lstStyle/>
          <a:p>
            <a:pPr algn="l">
              <a:def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성장 변화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8D29960-49F0-4C20-ABC9-61E454240C8F}"/>
              </a:ext>
            </a:extLst>
          </p:cNvPr>
          <p:cNvSpPr>
            <a:spLocks noGrp="1"/>
          </p:cNvSpPr>
          <p:nvPr/>
        </p:nvSpPr>
        <p:spPr>
          <a:xfrm>
            <a:off x="8858250" y="5758640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반복 이용에 따라 성장 상태가 변화</a:t>
            </a:r>
          </a:p>
        </p:txBody>
      </p:sp>
    </p:spTree>
    <p:extLst>
      <p:ext uri="{BB962C8B-B14F-4D97-AF65-F5344CB8AC3E}">
        <p14:creationId xmlns:p14="http://schemas.microsoft.com/office/powerpoint/2010/main" val="4886702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D5988F-AA2D-48CF-8D5A-13677BB3D92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7FBDC1-1DDA-40D8-B2D1-063CDA64D665}"/>
              </a:ext>
            </a:extLst>
          </p:cNvPr>
          <p:cNvSpPr>
            <a:spLocks noGrp="1"/>
          </p:cNvSpPr>
          <p:nvPr/>
        </p:nvSpPr>
        <p:spPr>
          <a:xfrm>
            <a:off x="1285875" y="361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B8A69"/>
                </a:solidFill>
                <a:latin typeface="Apple SD Gothic Neo"/>
                <a:ea typeface="Apple SD Gothic Neo"/>
                <a:cs typeface="Apple SD Gothic Neo"/>
              </a:rPr>
              <a:t>FEATURE 04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2EFEE89-554C-48AB-BD34-DABEF83D55DE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19050"/>
          </a:xfrm>
          <a:prstGeom prst="rect">
            <a:avLst/>
          </a:prstGeom>
          <a:solidFill>
            <a:srgbClr val="CFE4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8356C1-A99C-4D9D-BE3B-4E35CA076D38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E18797-5FB4-4645-872A-E797CF70454C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고령자·보호자·전문기관 연결 구조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96E589-7336-4A54-9DCB-7BE457632B60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동의와 접근 권한을 기준으로 필요한 정보만 공유합니다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9F5ECE29-511F-4D4C-BFD0-68B0E1827789}"/>
              </a:ext>
            </a:extLst>
          </p:cNvPr>
          <p:cNvSpPr>
            <a:spLocks noGrp="1"/>
          </p:cNvSpPr>
          <p:nvPr/>
        </p:nvSpPr>
        <p:spPr>
          <a:xfrm>
            <a:off x="4667250" y="2047875"/>
            <a:ext cx="2857500" cy="323850"/>
          </a:xfrm>
          <a:prstGeom prst="roundRect">
            <a:avLst>
              <a:gd name="adj" fmla="val 23529"/>
            </a:avLst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73EA67-4B80-42BD-9430-1D9431621283}"/>
              </a:ext>
            </a:extLst>
          </p:cNvPr>
          <p:cNvSpPr>
            <a:spLocks noGrp="1"/>
          </p:cNvSpPr>
          <p:nvPr/>
        </p:nvSpPr>
        <p:spPr>
          <a:xfrm>
            <a:off x="4743450" y="2095500"/>
            <a:ext cx="2705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동의 및 기능별 접근 권한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2AFBFAE-B164-4A84-B841-17E12949ACC9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28575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EBF70C-B02D-4207-9C2C-04D9B6B29D33}"/>
              </a:ext>
            </a:extLst>
          </p:cNvPr>
          <p:cNvSpPr>
            <a:spLocks noGrp="1"/>
          </p:cNvSpPr>
          <p:nvPr/>
        </p:nvSpPr>
        <p:spPr>
          <a:xfrm>
            <a:off x="1095375" y="32385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 algn="ctr">
              <a:defRPr sz="172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고령자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91107A-9D24-4CBB-86E3-AA5A67F23C8D}"/>
              </a:ext>
            </a:extLst>
          </p:cNvPr>
          <p:cNvSpPr>
            <a:spLocks noGrp="1"/>
          </p:cNvSpPr>
          <p:nvPr/>
        </p:nvSpPr>
        <p:spPr>
          <a:xfrm>
            <a:off x="1190625" y="3857625"/>
            <a:ext cx="2190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검사 수행</a:t>
            </a:r>
          </a:p>
          <a:p>
            <a:pPr algn="ctr">
              <a:def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음성·생활 기록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86F165-D603-477D-9C4B-BEE138E31F3D}"/>
              </a:ext>
            </a:extLst>
          </p:cNvPr>
          <p:cNvSpPr>
            <a:spLocks noGrp="1"/>
          </p:cNvSpPr>
          <p:nvPr/>
        </p:nvSpPr>
        <p:spPr>
          <a:xfrm>
            <a:off x="3857625" y="3790950"/>
            <a:ext cx="1190625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211EA2C-4BE1-47EF-8904-06ED0D3DE5B8}"/>
              </a:ext>
            </a:extLst>
          </p:cNvPr>
          <p:cNvSpPr>
            <a:spLocks noGrp="1"/>
          </p:cNvSpPr>
          <p:nvPr/>
        </p:nvSpPr>
        <p:spPr>
          <a:xfrm>
            <a:off x="4991100" y="375285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F54D8436-E541-4881-992F-7142C7017D4D}"/>
              </a:ext>
            </a:extLst>
          </p:cNvPr>
          <p:cNvSpPr>
            <a:spLocks noGrp="1"/>
          </p:cNvSpPr>
          <p:nvPr/>
        </p:nvSpPr>
        <p:spPr>
          <a:xfrm>
            <a:off x="4524375" y="2952750"/>
            <a:ext cx="2857500" cy="1714500"/>
          </a:xfrm>
          <a:prstGeom prst="roundRect">
            <a:avLst>
              <a:gd name="adj" fmla="val 7778"/>
            </a:avLst>
          </a:prstGeom>
          <a:solidFill>
            <a:srgbClr val="DFF1E8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C62B1A-E4C3-482F-A775-8F5273434A46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 algn="ctr">
              <a:defRPr sz="172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보호자·관리자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AD4D83-B67E-4240-A46B-A5C8C858BC5F}"/>
              </a:ext>
            </a:extLst>
          </p:cNvPr>
          <p:cNvSpPr>
            <a:spLocks noGrp="1"/>
          </p:cNvSpPr>
          <p:nvPr/>
        </p:nvSpPr>
        <p:spPr>
          <a:xfrm>
            <a:off x="4857750" y="3857625"/>
            <a:ext cx="2190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복수 사용자 연결</a:t>
            </a:r>
          </a:p>
          <a:p>
            <a:pPr algn="ctr">
              <a:defRPr sz="1200" b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결과와 변화 추이 확인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C993451-7A9E-4DB9-9DB9-E785FF76CB78}"/>
              </a:ext>
            </a:extLst>
          </p:cNvPr>
          <p:cNvSpPr>
            <a:spLocks noGrp="1"/>
          </p:cNvSpPr>
          <p:nvPr/>
        </p:nvSpPr>
        <p:spPr>
          <a:xfrm>
            <a:off x="7524750" y="3790950"/>
            <a:ext cx="1190625" cy="28575"/>
          </a:xfrm>
          <a:prstGeom prst="rect">
            <a:avLst/>
          </a:prstGeom>
          <a:solidFill>
            <a:srgbClr val="10AA5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C5B4F4C-2A87-427F-857C-8FEF0986DF96}"/>
              </a:ext>
            </a:extLst>
          </p:cNvPr>
          <p:cNvSpPr>
            <a:spLocks noGrp="1"/>
          </p:cNvSpPr>
          <p:nvPr/>
        </p:nvSpPr>
        <p:spPr>
          <a:xfrm>
            <a:off x="8658225" y="3752850"/>
            <a:ext cx="95250" cy="95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180033F-CA46-4F68-8D97-14CDE9BB21A0}"/>
              </a:ext>
            </a:extLst>
          </p:cNvPr>
          <p:cNvSpPr>
            <a:spLocks noGrp="1"/>
          </p:cNvSpPr>
          <p:nvPr/>
        </p:nvSpPr>
        <p:spPr>
          <a:xfrm>
            <a:off x="8191500" y="2952750"/>
            <a:ext cx="28575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4288">
            <a:solidFill>
              <a:srgbClr val="CFE4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D66725-B14D-40E8-9DE2-E712D36415AD}"/>
              </a:ext>
            </a:extLst>
          </p:cNvPr>
          <p:cNvSpPr>
            <a:spLocks noGrp="1"/>
          </p:cNvSpPr>
          <p:nvPr/>
        </p:nvSpPr>
        <p:spPr>
          <a:xfrm>
            <a:off x="8429625" y="32385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 algn="ctr">
              <a:defRPr sz="172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E2822"/>
                </a:solidFill>
                <a:latin typeface="Apple SD Gothic Neo"/>
                <a:ea typeface="Apple SD Gothic Neo"/>
                <a:cs typeface="Apple SD Gothic Neo"/>
              </a:rPr>
              <a:t>전문기관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F2ADE1-6D07-44F9-BB1B-2D6AB2BA4142}"/>
              </a:ext>
            </a:extLst>
          </p:cNvPr>
          <p:cNvSpPr>
            <a:spLocks noGrp="1"/>
          </p:cNvSpPr>
          <p:nvPr/>
        </p:nvSpPr>
        <p:spPr>
          <a:xfrm>
            <a:off x="8524875" y="3857625"/>
            <a:ext cx="2190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치매안심센터</a:t>
            </a:r>
          </a:p>
          <a:p>
            <a:pPr algn="ctr">
              <a:def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66F"/>
                </a:solidFill>
                <a:latin typeface="Apple SD Gothic Neo"/>
                <a:ea typeface="Apple SD Gothic Neo"/>
                <a:cs typeface="Apple SD Gothic Neo"/>
              </a:rPr>
              <a:t>의료기관 전문검사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E3E0C90A-BCFA-4D30-A374-72FB9AED7304}"/>
              </a:ext>
            </a:extLst>
          </p:cNvPr>
          <p:cNvSpPr>
            <a:spLocks noGrp="1"/>
          </p:cNvSpPr>
          <p:nvPr/>
        </p:nvSpPr>
        <p:spPr>
          <a:xfrm>
            <a:off x="1381125" y="5476875"/>
            <a:ext cx="9429750" cy="609600"/>
          </a:xfrm>
          <a:prstGeom prst="roundRect">
            <a:avLst>
              <a:gd name="adj" fmla="val 12500"/>
            </a:avLst>
          </a:prstGeom>
          <a:solidFill>
            <a:srgbClr val="DFF1E8"/>
          </a:solidFill>
          <a:ln w="14288">
            <a:solidFill>
              <a:srgbClr val="DFF1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6C4515A-DAE0-48C4-B511-BF8005B859DD}"/>
              </a:ext>
            </a:extLst>
          </p:cNvPr>
          <p:cNvSpPr>
            <a:spLocks noGrp="1"/>
          </p:cNvSpPr>
          <p:nvPr/>
        </p:nvSpPr>
        <p:spPr>
          <a:xfrm>
            <a:off x="1666875" y="5629275"/>
            <a:ext cx="8858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F5A3D"/>
                </a:solidFill>
                <a:latin typeface="Apple SD Gothic Neo"/>
                <a:ea typeface="Apple SD Gothic Neo"/>
                <a:cs typeface="Apple SD Gothic Neo"/>
              </a:rPr>
              <a:t>시스템은 치매 여부를 확정하지 않고, 반복되는 위험 신호가 확인되면 전문검사를 안내</a:t>
            </a:r>
          </a:p>
        </p:txBody>
      </p:sp>
    </p:spTree>
    <p:extLst>
      <p:ext uri="{BB962C8B-B14F-4D97-AF65-F5344CB8AC3E}">
        <p14:creationId xmlns:p14="http://schemas.microsoft.com/office/powerpoint/2010/main" val="728530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타원 10">
            <a:extLst>
              <a:ext uri="{FF2B5EF4-FFF2-40B4-BE49-F238E27FC236}">
                <a16:creationId xmlns:a16="http://schemas.microsoft.com/office/drawing/2014/main" id="{6C77B433-65BC-4FE8-B113-2D832E7618A9}"/>
              </a:ext>
            </a:extLst>
          </p:cNvPr>
          <p:cNvSpPr>
            <a:spLocks noGrp="1"/>
          </p:cNvSpPr>
          <p:nvPr/>
        </p:nvSpPr>
        <p:spPr>
          <a:xfrm>
            <a:off x="7524750" y="0"/>
            <a:ext cx="4667250" cy="4667250"/>
          </a:xfrm>
          <a:prstGeom prst="ellipse">
            <a:avLst/>
          </a:prstGeom>
          <a:solidFill>
            <a:srgbClr val="10AA5D"/>
          </a:solidFill>
          <a:ln w="14288">
            <a:solidFill>
              <a:srgbClr val="10AA5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C24E3F-5C6A-47AA-A780-66F9B20AE956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72"/>
          </a:bodyPr>
          <a:lstStyle/>
          <a:p>
            <a:pPr algn="l"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늘, 곁에서 함께 바라보는</a:t>
            </a:r>
          </a:p>
          <a:p>
            <a:pPr algn="l"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인지 건강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2DEAFA-F920-452A-9018-88467DED7F03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2809875" cy="47625"/>
          </a:xfrm>
          <a:prstGeom prst="rect">
            <a:avLst/>
          </a:prstGeom>
          <a:solidFill>
            <a:srgbClr val="DFF1E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1D483D-5852-4AA3-B916-30E45544FB49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2857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450" b="1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늘봄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BCD3AD-1465-4730-AD48-A1F747C1369B}"/>
              </a:ext>
            </a:extLst>
          </p:cNvPr>
          <p:cNvSpPr>
            <a:spLocks noGrp="1"/>
          </p:cNvSpPr>
          <p:nvPr/>
        </p:nvSpPr>
        <p:spPr>
          <a:xfrm>
            <a:off x="8543925" y="2781300"/>
            <a:ext cx="22955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246"/>
          </a:bodyPr>
          <a:lstStyle/>
          <a:p>
            <a:pPr algn="ctr">
              <a:def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AA5D"/>
                </a:solidFill>
                <a:latin typeface="Apple SD Gothic Neo"/>
                <a:ea typeface="Apple SD Gothic Neo"/>
                <a:cs typeface="Apple SD Gothic Neo"/>
              </a:rPr>
              <a:t>[팥이 마무리 이미지]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941B46-B01A-42A9-9537-D49B9FDA5978}"/>
              </a:ext>
            </a:extLst>
          </p:cNvPr>
          <p:cNvSpPr>
            <a:spLocks noGrp="1"/>
          </p:cNvSpPr>
          <p:nvPr/>
        </p:nvSpPr>
        <p:spPr>
          <a:xfrm>
            <a:off x="781050" y="5476875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11" lnSpcReduction="10000"/>
          </a:bodyPr>
          <a:lstStyle/>
          <a:p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부산대학교 정보컴퓨터공학부  </a:t>
            </a:r>
            <a:r>
              <a:rPr lang="en-US" altLang="ko-KR"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2026</a:t>
            </a:r>
            <a:r>
              <a:rPr lang="ko-KR" altLang="en-US"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학년도 전기 졸업과제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D99800-79B8-4D78-AB29-21AB6454C432}"/>
              </a:ext>
            </a:extLst>
          </p:cNvPr>
          <p:cNvSpPr>
            <a:spLocks noGrp="1"/>
          </p:cNvSpPr>
          <p:nvPr/>
        </p:nvSpPr>
        <p:spPr>
          <a:xfrm>
            <a:off x="781050" y="5886450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19"/>
          </a:bodyPr>
          <a:lstStyle/>
          <a:p>
            <a:pPr algn="l">
              <a:defRPr sz="1050" b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 err="1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팀원</a:t>
            </a:r>
            <a:r>
              <a:rPr sz="1050" b="0" dirty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ko-KR" altLang="en-US" sz="1050" b="0" dirty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원준서</a:t>
            </a:r>
            <a:r>
              <a:rPr sz="1050" b="0" dirty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  ·  </a:t>
            </a:r>
            <a:r>
              <a:rPr lang="ko-KR" altLang="en-US" sz="1050" b="0" dirty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김민서</a:t>
            </a:r>
            <a:r>
              <a:rPr sz="1050" b="0" dirty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  ·  </a:t>
            </a:r>
            <a:r>
              <a:rPr lang="ko-KR" altLang="en-US" sz="1050" b="0" dirty="0">
                <a:solidFill>
                  <a:srgbClr val="DFF1E8"/>
                </a:solidFill>
                <a:latin typeface="Apple SD Gothic Neo"/>
                <a:ea typeface="Apple SD Gothic Neo"/>
                <a:cs typeface="Apple SD Gothic Neo"/>
              </a:rPr>
              <a:t>이지현</a:t>
            </a:r>
            <a:endParaRPr sz="1050" b="0" dirty="0">
              <a:solidFill>
                <a:srgbClr val="DFF1E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820EDF4-1974-2A7C-3F6D-6B20F3E1B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1790700"/>
            <a:ext cx="3640769" cy="405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456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2777</Words>
  <Application>Microsoft Office PowerPoint</Application>
  <DocSecurity>0</DocSecurity>
  <PresentationFormat>와이드스크린</PresentationFormat>
  <Paragraphs>569</Paragraphs>
  <Slides>39</Slides>
  <Notes>39</Notes>
  <HiddenSlides>0</HiddenSlides>
  <MMClips>18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2" baseType="lpstr">
      <vt:lpstr>Calibri</vt:lpstr>
      <vt:lpstr>Apple SD Gothic Neo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junseo won</cp:lastModifiedBy>
  <cp:revision>12</cp:revision>
  <dcterms:created xsi:type="dcterms:W3CDTF">2026-09-18T07:00:18Z</dcterms:created>
  <dcterms:modified xsi:type="dcterms:W3CDTF">2026-09-18T15:56:59Z</dcterms:modified>
</cp:coreProperties>
</file>